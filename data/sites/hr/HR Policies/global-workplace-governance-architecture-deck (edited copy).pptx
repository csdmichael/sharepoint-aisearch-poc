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Executive Summary &amp; Scope - Global Workplace Governance Architec</a:t>
            </a:r>
          </a:p>
        </p:txBody>
      </p:sp>
      <p:sp>
        <p:nvSpPr>
          <p:cNvPr id="3" name="Content Placeholder 2"/>
          <p:cNvSpPr>
            <a:spLocks noGrp="1"/>
          </p:cNvSpPr>
          <p:nvPr>
            <p:ph idx="1"/>
          </p:nvPr>
        </p:nvSpPr>
        <p:spPr/>
        <p:txBody>
          <a:bodyPr/>
          <a:lstStyle/>
          <a:p>
            <a:r>
              <a:t>Multi-slide executive presentation covering global HR policy architecture, regional compliance matrices, escalation paths, and annual audit readiness. Section 1 (Executive Summary &amp; Scope) applies to HR Policies within HR Knowledge Hub and is maintained by Maria Chen. Defines the operational charter, scope boundaries, and executive accountability.</a:t>
            </a:r>
          </a:p>
          <a:p>
            <a:pPr lvl="1"/>
            <a:r>
              <a:t>Standardizes policy governance across North America, EMEA, and APAC hubs.</a:t>
            </a:r>
          </a:p>
          <a:p>
            <a:pPr lvl="1"/>
            <a:r>
              <a:t>Maps statutory compliance controls to quarterly HR Business Partner audit checkpoints.</a:t>
            </a:r>
          </a:p>
          <a:p>
            <a:pPr lvl="1"/>
            <a:r>
              <a:t>Section 1 review cadence is tracked by Maria Chen under HR Policies governance.</a:t>
            </a:r>
          </a:p>
        </p:txBody>
      </p:sp>
      <p:graphicFrame>
        <p:nvGraphicFramePr>
          <p:cNvPr id="4" name="Table 3"/>
          <p:cNvGraphicFramePr>
            <a:graphicFrameLocks noGrp="1"/>
          </p:cNvGraphicFramePr>
          <p:nvPr/>
        </p:nvGraphicFramePr>
        <p:xfrm>
          <a:off x="548640" y="3749039"/>
          <a:ext cx="5669280" cy="1389888"/>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Region</a:t>
                      </a:r>
                    </a:p>
                  </a:txBody>
                  <a:tcPr/>
                </a:tc>
                <a:tc>
                  <a:txBody>
                    <a:bodyPr/>
                    <a:lstStyle/>
                    <a:p>
                      <a:pPr>
                        <a:defRPr b="1" sz="1100"/>
                      </a:pPr>
                      <a:r>
                        <a:t>Policy Coverage</a:t>
                      </a:r>
                    </a:p>
                  </a:txBody>
                  <a:tcPr/>
                </a:tc>
                <a:tc>
                  <a:txBody>
                    <a:bodyPr/>
                    <a:lstStyle/>
                    <a:p>
                      <a:pPr>
                        <a:defRPr b="1" sz="1100"/>
                      </a:pPr>
                      <a:r>
                        <a:t>Audit SLA</a:t>
                      </a:r>
                    </a:p>
                  </a:txBody>
                  <a:tcPr/>
                </a:tc>
                <a:tc>
                  <a:txBody>
                    <a:bodyPr/>
                    <a:lstStyle/>
                    <a:p>
                      <a:pPr>
                        <a:defRPr b="1" sz="1100"/>
                      </a:pPr>
                      <a:r>
                        <a:t>Compliance Score</a:t>
                      </a:r>
                    </a:p>
                  </a:txBody>
                  <a:tcPr/>
                </a:tc>
              </a:tr>
              <a:tr h="347472">
                <a:tc>
                  <a:txBody>
                    <a:bodyPr/>
                    <a:lstStyle/>
                    <a:p>
                      <a:pPr>
                        <a:defRPr sz="1000"/>
                      </a:pPr>
                      <a:r>
                        <a:t>North America</a:t>
                      </a:r>
                    </a:p>
                  </a:txBody>
                  <a:tcPr/>
                </a:tc>
                <a:tc>
                  <a:txBody>
                    <a:bodyPr/>
                    <a:lstStyle/>
                    <a:p>
                      <a:pPr>
                        <a:defRPr sz="1000"/>
                      </a:pPr>
                      <a:r>
                        <a:t>100%</a:t>
                      </a:r>
                    </a:p>
                  </a:txBody>
                  <a:tcPr/>
                </a:tc>
                <a:tc>
                  <a:txBody>
                    <a:bodyPr/>
                    <a:lstStyle/>
                    <a:p>
                      <a:pPr>
                        <a:defRPr sz="1000"/>
                      </a:pPr>
                      <a:r>
                        <a:t>5 business days</a:t>
                      </a:r>
                    </a:p>
                  </a:txBody>
                  <a:tcPr/>
                </a:tc>
                <a:tc>
                  <a:txBody>
                    <a:bodyPr/>
                    <a:lstStyle/>
                    <a:p>
                      <a:pPr>
                        <a:defRPr sz="1000"/>
                      </a:pPr>
                      <a:r>
                        <a:t>98.4%</a:t>
                      </a:r>
                    </a:p>
                  </a:txBody>
                  <a:tcPr/>
                </a:tc>
              </a:tr>
              <a:tr h="347472">
                <a:tc>
                  <a:txBody>
                    <a:bodyPr/>
                    <a:lstStyle/>
                    <a:p>
                      <a:pPr>
                        <a:defRPr sz="1000"/>
                      </a:pPr>
                      <a:r>
                        <a:t>EMEA</a:t>
                      </a:r>
                    </a:p>
                  </a:txBody>
                  <a:tcPr/>
                </a:tc>
                <a:tc>
                  <a:txBody>
                    <a:bodyPr/>
                    <a:lstStyle/>
                    <a:p>
                      <a:pPr>
                        <a:defRPr sz="1000"/>
                      </a:pPr>
                      <a:r>
                        <a:t>99%</a:t>
                      </a:r>
                    </a:p>
                  </a:txBody>
                  <a:tcPr/>
                </a:tc>
                <a:tc>
                  <a:txBody>
                    <a:bodyPr/>
                    <a:lstStyle/>
                    <a:p>
                      <a:pPr>
                        <a:defRPr sz="1000"/>
                      </a:pPr>
                      <a:r>
                        <a:t>5 business days</a:t>
                      </a:r>
                    </a:p>
                  </a:txBody>
                  <a:tcPr/>
                </a:tc>
                <a:tc>
                  <a:txBody>
                    <a:bodyPr/>
                    <a:lstStyle/>
                    <a:p>
                      <a:pPr>
                        <a:defRPr sz="1000"/>
                      </a:pPr>
                      <a:r>
                        <a:t>97.9%</a:t>
                      </a:r>
                    </a:p>
                  </a:txBody>
                  <a:tcPr/>
                </a:tc>
              </a:tr>
              <a:tr h="347472">
                <a:tc>
                  <a:txBody>
                    <a:bodyPr/>
                    <a:lstStyle/>
                    <a:p>
                      <a:pPr>
                        <a:defRPr sz="1000"/>
                      </a:pPr>
                      <a:r>
                        <a:t>APAC</a:t>
                      </a:r>
                    </a:p>
                  </a:txBody>
                  <a:tcPr/>
                </a:tc>
                <a:tc>
                  <a:txBody>
                    <a:bodyPr/>
                    <a:lstStyle/>
                    <a:p>
                      <a:pPr>
                        <a:defRPr sz="1000"/>
                      </a:pPr>
                      <a:r>
                        <a:t>98%</a:t>
                      </a:r>
                    </a:p>
                  </a:txBody>
                  <a:tcPr/>
                </a:tc>
                <a:tc>
                  <a:txBody>
                    <a:bodyPr/>
                    <a:lstStyle/>
                    <a:p>
                      <a:pPr>
                        <a:defRPr sz="1000"/>
                      </a:pPr>
                      <a:r>
                        <a:t>7 business days</a:t>
                      </a:r>
                    </a:p>
                  </a:txBody>
                  <a:tcPr/>
                </a:tc>
                <a:tc>
                  <a:txBody>
                    <a:bodyPr/>
                    <a:lstStyle/>
                    <a:p>
                      <a:pPr>
                        <a:defRPr sz="1000"/>
                      </a:pPr>
                      <a:r>
                        <a:t>96.8%</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Architecture &amp; Process Flow - Global Workplace Governance Architec</a:t>
            </a:r>
          </a:p>
        </p:txBody>
      </p:sp>
      <p:sp>
        <p:nvSpPr>
          <p:cNvPr id="3" name="Content Placeholder 2"/>
          <p:cNvSpPr>
            <a:spLocks noGrp="1"/>
          </p:cNvSpPr>
          <p:nvPr>
            <p:ph idx="1"/>
          </p:nvPr>
        </p:nvSpPr>
        <p:spPr/>
        <p:txBody>
          <a:bodyPr/>
          <a:lstStyle/>
          <a:p>
            <a:r>
              <a:t>Multi-slide executive presentation covering global HR policy architecture, regional compliance matrices, escalation paths, and annual audit readiness. Section 2 (Architecture &amp; Process Flow) applies to HR Policies within HR Knowledge Hub and is maintained by Maria Chen. Maps end-to-end process stages, handoff gates, and system-of-record integrations.</a:t>
            </a:r>
          </a:p>
          <a:p>
            <a:pPr lvl="1"/>
            <a:r>
              <a:t>Maps statutory compliance controls to quarterly HR Business Partner audit checkpoints.</a:t>
            </a:r>
          </a:p>
          <a:p>
            <a:pPr lvl="1"/>
            <a:r>
              <a:t>Integrates incident intake, investigation SLAs, and executive reporting dashboards.</a:t>
            </a:r>
          </a:p>
          <a:p>
            <a:pPr lvl="1"/>
            <a:r>
              <a:t>Section 2 review cadence is tracked by Maria Chen under HR Policies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Region</a:t>
                      </a:r>
                    </a:p>
                  </a:txBody>
                  <a:tcPr/>
                </a:tc>
                <a:tc>
                  <a:txBody>
                    <a:bodyPr/>
                    <a:lstStyle/>
                    <a:p>
                      <a:pPr>
                        <a:defRPr b="1" sz="1100"/>
                      </a:pPr>
                      <a:r>
                        <a:t>Policy Coverage</a:t>
                      </a:r>
                    </a:p>
                  </a:txBody>
                  <a:tcPr/>
                </a:tc>
                <a:tc>
                  <a:txBody>
                    <a:bodyPr/>
                    <a:lstStyle/>
                    <a:p>
                      <a:pPr>
                        <a:defRPr b="1" sz="1100"/>
                      </a:pPr>
                      <a:r>
                        <a:t>Audit SLA</a:t>
                      </a:r>
                    </a:p>
                  </a:txBody>
                  <a:tcPr/>
                </a:tc>
                <a:tc>
                  <a:txBody>
                    <a:bodyPr/>
                    <a:lstStyle/>
                    <a:p>
                      <a:pPr>
                        <a:defRPr b="1" sz="1100"/>
                      </a:pPr>
                      <a:r>
                        <a:t>Compliance Score</a:t>
                      </a:r>
                    </a:p>
                  </a:txBody>
                  <a:tcPr/>
                </a:tc>
              </a:tr>
              <a:tr h="347472">
                <a:tc>
                  <a:txBody>
                    <a:bodyPr/>
                    <a:lstStyle/>
                    <a:p>
                      <a:pPr>
                        <a:defRPr sz="1000"/>
                      </a:pPr>
                      <a:r>
                        <a:t>North America</a:t>
                      </a:r>
                    </a:p>
                  </a:txBody>
                  <a:tcPr/>
                </a:tc>
                <a:tc>
                  <a:txBody>
                    <a:bodyPr/>
                    <a:lstStyle/>
                    <a:p>
                      <a:pPr>
                        <a:defRPr sz="1000"/>
                      </a:pPr>
                      <a:r>
                        <a:t>100%</a:t>
                      </a:r>
                    </a:p>
                  </a:txBody>
                  <a:tcPr/>
                </a:tc>
                <a:tc>
                  <a:txBody>
                    <a:bodyPr/>
                    <a:lstStyle/>
                    <a:p>
                      <a:pPr>
                        <a:defRPr sz="1000"/>
                      </a:pPr>
                      <a:r>
                        <a:t>5 business days</a:t>
                      </a:r>
                    </a:p>
                  </a:txBody>
                  <a:tcPr/>
                </a:tc>
                <a:tc>
                  <a:txBody>
                    <a:bodyPr/>
                    <a:lstStyle/>
                    <a:p>
                      <a:pPr>
                        <a:defRPr sz="1000"/>
                      </a:pPr>
                      <a:r>
                        <a:t>98.4%</a:t>
                      </a:r>
                    </a:p>
                  </a:txBody>
                  <a:tcPr/>
                </a:tc>
              </a:tr>
              <a:tr h="347472">
                <a:tc>
                  <a:txBody>
                    <a:bodyPr/>
                    <a:lstStyle/>
                    <a:p>
                      <a:pPr>
                        <a:defRPr sz="1000"/>
                      </a:pPr>
                      <a:r>
                        <a:t>EMEA</a:t>
                      </a:r>
                    </a:p>
                  </a:txBody>
                  <a:tcPr/>
                </a:tc>
                <a:tc>
                  <a:txBody>
                    <a:bodyPr/>
                    <a:lstStyle/>
                    <a:p>
                      <a:pPr>
                        <a:defRPr sz="1000"/>
                      </a:pPr>
                      <a:r>
                        <a:t>99%</a:t>
                      </a:r>
                    </a:p>
                  </a:txBody>
                  <a:tcPr/>
                </a:tc>
                <a:tc>
                  <a:txBody>
                    <a:bodyPr/>
                    <a:lstStyle/>
                    <a:p>
                      <a:pPr>
                        <a:defRPr sz="1000"/>
                      </a:pPr>
                      <a:r>
                        <a:t>5 business days</a:t>
                      </a:r>
                    </a:p>
                  </a:txBody>
                  <a:tcPr/>
                </a:tc>
                <a:tc>
                  <a:txBody>
                    <a:bodyPr/>
                    <a:lstStyle/>
                    <a:p>
                      <a:pPr>
                        <a:defRPr sz="1000"/>
                      </a:pPr>
                      <a:r>
                        <a:t>97.9%</a:t>
                      </a:r>
                    </a:p>
                  </a:txBody>
                  <a:tcPr/>
                </a:tc>
              </a:tr>
              <a:tr h="347472">
                <a:tc>
                  <a:txBody>
                    <a:bodyPr/>
                    <a:lstStyle/>
                    <a:p>
                      <a:pPr>
                        <a:defRPr sz="1000"/>
                      </a:pPr>
                      <a:r>
                        <a:t>APAC</a:t>
                      </a:r>
                    </a:p>
                  </a:txBody>
                  <a:tcPr/>
                </a:tc>
                <a:tc>
                  <a:txBody>
                    <a:bodyPr/>
                    <a:lstStyle/>
                    <a:p>
                      <a:pPr>
                        <a:defRPr sz="1000"/>
                      </a:pPr>
                      <a:r>
                        <a:t>98%</a:t>
                      </a:r>
                    </a:p>
                  </a:txBody>
                  <a:tcPr/>
                </a:tc>
                <a:tc>
                  <a:txBody>
                    <a:bodyPr/>
                    <a:lstStyle/>
                    <a:p>
                      <a:pPr>
                        <a:defRPr sz="1000"/>
                      </a:pPr>
                      <a:r>
                        <a:t>7 business days</a:t>
                      </a:r>
                    </a:p>
                  </a:txBody>
                  <a:tcPr/>
                </a:tc>
                <a:tc>
                  <a:txBody>
                    <a:bodyPr/>
                    <a:lstStyle/>
                    <a:p>
                      <a:pPr>
                        <a:defRPr sz="1000"/>
                      </a:pPr>
                      <a:r>
                        <a:t>96.8%</a:t>
                      </a:r>
                    </a:p>
                  </a:txBody>
                  <a:tcPr/>
                </a:tc>
              </a:tr>
              <a:tr h="347472">
                <a:tc>
                  <a:txBody>
                    <a:bodyPr/>
                    <a:lstStyle/>
                    <a:p>
                      <a:pPr>
                        <a:defRPr sz="1000"/>
                      </a:pPr>
                      <a:r>
                        <a:t>Sec-2</a:t>
                      </a:r>
                    </a:p>
                  </a:txBody>
                  <a:tcPr/>
                </a:tc>
                <a:tc>
                  <a:txBody>
                    <a:bodyPr/>
                    <a:lstStyle/>
                    <a:p>
                      <a:pPr>
                        <a:defRPr sz="1000"/>
                      </a:pPr>
                      <a:r>
                        <a:t>99%</a:t>
                      </a:r>
                    </a:p>
                  </a:txBody>
                  <a:tcPr/>
                </a:tc>
                <a:tc>
                  <a:txBody>
                    <a:bodyPr/>
                    <a:lstStyle/>
                    <a:p>
                      <a:pPr>
                        <a:defRPr sz="1000"/>
                      </a:pPr>
                      <a:r>
                        <a:t>5 business days</a:t>
                      </a:r>
                    </a:p>
                  </a:txBody>
                  <a:tcPr/>
                </a:tc>
                <a:tc>
                  <a:txBody>
                    <a:bodyPr/>
                    <a:lstStyle/>
                    <a:p>
                      <a:pPr>
                        <a:defRPr sz="1000"/>
                      </a:pPr>
                      <a:r>
                        <a:t>Stage 2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Governance Standards &amp; Controls - Global Workplace Governance Architec</a:t>
            </a:r>
          </a:p>
        </p:txBody>
      </p:sp>
      <p:sp>
        <p:nvSpPr>
          <p:cNvPr id="3" name="Content Placeholder 2"/>
          <p:cNvSpPr>
            <a:spLocks noGrp="1"/>
          </p:cNvSpPr>
          <p:nvPr>
            <p:ph idx="1"/>
          </p:nvPr>
        </p:nvSpPr>
        <p:spPr/>
        <p:txBody>
          <a:bodyPr/>
          <a:lstStyle/>
          <a:p>
            <a:r>
              <a:t>Multi-slide executive presentation covering global HR policy architecture, regional compliance matrices, escalation paths, and annual audit readiness. Section 3 (Governance Standards &amp; Controls) applies to HR Policies within HR Knowledge Hub and is maintained by Maria Chen. Establishes mandatory compliance controls, approval thresholds, and audit evidence.</a:t>
            </a:r>
          </a:p>
          <a:p>
            <a:pPr lvl="1"/>
            <a:r>
              <a:t>Integrates incident intake, investigation SLAs, and executive reporting dashboards.</a:t>
            </a:r>
          </a:p>
          <a:p>
            <a:pPr lvl="1"/>
            <a:r>
              <a:t>Defines annual policy review cycles and version control requirements.</a:t>
            </a:r>
          </a:p>
          <a:p>
            <a:pPr lvl="1"/>
            <a:r>
              <a:t>Section 3 review cadence is tracked by Maria Chen under HR Policies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Region</a:t>
                      </a:r>
                    </a:p>
                  </a:txBody>
                  <a:tcPr/>
                </a:tc>
                <a:tc>
                  <a:txBody>
                    <a:bodyPr/>
                    <a:lstStyle/>
                    <a:p>
                      <a:pPr>
                        <a:defRPr b="1" sz="1100"/>
                      </a:pPr>
                      <a:r>
                        <a:t>Policy Coverage</a:t>
                      </a:r>
                    </a:p>
                  </a:txBody>
                  <a:tcPr/>
                </a:tc>
                <a:tc>
                  <a:txBody>
                    <a:bodyPr/>
                    <a:lstStyle/>
                    <a:p>
                      <a:pPr>
                        <a:defRPr b="1" sz="1100"/>
                      </a:pPr>
                      <a:r>
                        <a:t>Audit SLA</a:t>
                      </a:r>
                    </a:p>
                  </a:txBody>
                  <a:tcPr/>
                </a:tc>
                <a:tc>
                  <a:txBody>
                    <a:bodyPr/>
                    <a:lstStyle/>
                    <a:p>
                      <a:pPr>
                        <a:defRPr b="1" sz="1100"/>
                      </a:pPr>
                      <a:r>
                        <a:t>Compliance Score</a:t>
                      </a:r>
                    </a:p>
                  </a:txBody>
                  <a:tcPr/>
                </a:tc>
              </a:tr>
              <a:tr h="347472">
                <a:tc>
                  <a:txBody>
                    <a:bodyPr/>
                    <a:lstStyle/>
                    <a:p>
                      <a:pPr>
                        <a:defRPr sz="1000"/>
                      </a:pPr>
                      <a:r>
                        <a:t>North America</a:t>
                      </a:r>
                    </a:p>
                  </a:txBody>
                  <a:tcPr/>
                </a:tc>
                <a:tc>
                  <a:txBody>
                    <a:bodyPr/>
                    <a:lstStyle/>
                    <a:p>
                      <a:pPr>
                        <a:defRPr sz="1000"/>
                      </a:pPr>
                      <a:r>
                        <a:t>100%</a:t>
                      </a:r>
                    </a:p>
                  </a:txBody>
                  <a:tcPr/>
                </a:tc>
                <a:tc>
                  <a:txBody>
                    <a:bodyPr/>
                    <a:lstStyle/>
                    <a:p>
                      <a:pPr>
                        <a:defRPr sz="1000"/>
                      </a:pPr>
                      <a:r>
                        <a:t>5 business days</a:t>
                      </a:r>
                    </a:p>
                  </a:txBody>
                  <a:tcPr/>
                </a:tc>
                <a:tc>
                  <a:txBody>
                    <a:bodyPr/>
                    <a:lstStyle/>
                    <a:p>
                      <a:pPr>
                        <a:defRPr sz="1000"/>
                      </a:pPr>
                      <a:r>
                        <a:t>98.4%</a:t>
                      </a:r>
                    </a:p>
                  </a:txBody>
                  <a:tcPr/>
                </a:tc>
              </a:tr>
              <a:tr h="347472">
                <a:tc>
                  <a:txBody>
                    <a:bodyPr/>
                    <a:lstStyle/>
                    <a:p>
                      <a:pPr>
                        <a:defRPr sz="1000"/>
                      </a:pPr>
                      <a:r>
                        <a:t>EMEA</a:t>
                      </a:r>
                    </a:p>
                  </a:txBody>
                  <a:tcPr/>
                </a:tc>
                <a:tc>
                  <a:txBody>
                    <a:bodyPr/>
                    <a:lstStyle/>
                    <a:p>
                      <a:pPr>
                        <a:defRPr sz="1000"/>
                      </a:pPr>
                      <a:r>
                        <a:t>99%</a:t>
                      </a:r>
                    </a:p>
                  </a:txBody>
                  <a:tcPr/>
                </a:tc>
                <a:tc>
                  <a:txBody>
                    <a:bodyPr/>
                    <a:lstStyle/>
                    <a:p>
                      <a:pPr>
                        <a:defRPr sz="1000"/>
                      </a:pPr>
                      <a:r>
                        <a:t>5 business days</a:t>
                      </a:r>
                    </a:p>
                  </a:txBody>
                  <a:tcPr/>
                </a:tc>
                <a:tc>
                  <a:txBody>
                    <a:bodyPr/>
                    <a:lstStyle/>
                    <a:p>
                      <a:pPr>
                        <a:defRPr sz="1000"/>
                      </a:pPr>
                      <a:r>
                        <a:t>97.9%</a:t>
                      </a:r>
                    </a:p>
                  </a:txBody>
                  <a:tcPr/>
                </a:tc>
              </a:tr>
              <a:tr h="347472">
                <a:tc>
                  <a:txBody>
                    <a:bodyPr/>
                    <a:lstStyle/>
                    <a:p>
                      <a:pPr>
                        <a:defRPr sz="1000"/>
                      </a:pPr>
                      <a:r>
                        <a:t>APAC</a:t>
                      </a:r>
                    </a:p>
                  </a:txBody>
                  <a:tcPr/>
                </a:tc>
                <a:tc>
                  <a:txBody>
                    <a:bodyPr/>
                    <a:lstStyle/>
                    <a:p>
                      <a:pPr>
                        <a:defRPr sz="1000"/>
                      </a:pPr>
                      <a:r>
                        <a:t>98%</a:t>
                      </a:r>
                    </a:p>
                  </a:txBody>
                  <a:tcPr/>
                </a:tc>
                <a:tc>
                  <a:txBody>
                    <a:bodyPr/>
                    <a:lstStyle/>
                    <a:p>
                      <a:pPr>
                        <a:defRPr sz="1000"/>
                      </a:pPr>
                      <a:r>
                        <a:t>7 business days</a:t>
                      </a:r>
                    </a:p>
                  </a:txBody>
                  <a:tcPr/>
                </a:tc>
                <a:tc>
                  <a:txBody>
                    <a:bodyPr/>
                    <a:lstStyle/>
                    <a:p>
                      <a:pPr>
                        <a:defRPr sz="1000"/>
                      </a:pPr>
                      <a:r>
                        <a:t>96.8%</a:t>
                      </a:r>
                    </a:p>
                  </a:txBody>
                  <a:tcPr/>
                </a:tc>
              </a:tr>
              <a:tr h="347472">
                <a:tc>
                  <a:txBody>
                    <a:bodyPr/>
                    <a:lstStyle/>
                    <a:p>
                      <a:pPr>
                        <a:defRPr sz="1000"/>
                      </a:pPr>
                      <a:r>
                        <a:t>Sec-3</a:t>
                      </a:r>
                    </a:p>
                  </a:txBody>
                  <a:tcPr/>
                </a:tc>
                <a:tc>
                  <a:txBody>
                    <a:bodyPr/>
                    <a:lstStyle/>
                    <a:p>
                      <a:pPr>
                        <a:defRPr sz="1000"/>
                      </a:pPr>
                      <a:r>
                        <a:t>98%</a:t>
                      </a:r>
                    </a:p>
                  </a:txBody>
                  <a:tcPr/>
                </a:tc>
                <a:tc>
                  <a:txBody>
                    <a:bodyPr/>
                    <a:lstStyle/>
                    <a:p>
                      <a:pPr>
                        <a:defRPr sz="1000"/>
                      </a:pPr>
                      <a:r>
                        <a:t>7 business days</a:t>
                      </a:r>
                    </a:p>
                  </a:txBody>
                  <a:tcPr/>
                </a:tc>
                <a:tc>
                  <a:txBody>
                    <a:bodyPr/>
                    <a:lstStyle/>
                    <a:p>
                      <a:pPr>
                        <a:defRPr sz="1000"/>
                      </a:pPr>
                      <a:r>
                        <a:t>Stage 3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Operational KPIs &amp; Benchmarks - Global Workplace Governance Architec</a:t>
            </a:r>
          </a:p>
        </p:txBody>
      </p:sp>
      <p:sp>
        <p:nvSpPr>
          <p:cNvPr id="3" name="Content Placeholder 2"/>
          <p:cNvSpPr>
            <a:spLocks noGrp="1"/>
          </p:cNvSpPr>
          <p:nvPr>
            <p:ph idx="1"/>
          </p:nvPr>
        </p:nvSpPr>
        <p:spPr/>
        <p:txBody>
          <a:bodyPr/>
          <a:lstStyle/>
          <a:p>
            <a:r>
              <a:t>Multi-slide executive presentation covering global HR policy architecture, regional compliance matrices, escalation paths, and annual audit readiness. Section 4 (Operational KPIs &amp; Benchmarks) applies to HR Policies within HR Knowledge Hub and is maintained by Maria Chen. Tracks baseline performance, target SLAs, and quarterly benchmark progression.</a:t>
            </a:r>
          </a:p>
          <a:p>
            <a:pPr lvl="1"/>
            <a:r>
              <a:t>Defines annual policy review cycles and version control requirements.</a:t>
            </a:r>
          </a:p>
          <a:p>
            <a:pPr lvl="1"/>
            <a:r>
              <a:t>Standardizes policy governance across North America, EMEA, and APAC hubs.</a:t>
            </a:r>
          </a:p>
          <a:p>
            <a:pPr lvl="1"/>
            <a:r>
              <a:t>Section 4 review cadence is tracked by Maria Chen under HR Policies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Region</a:t>
                      </a:r>
                    </a:p>
                  </a:txBody>
                  <a:tcPr/>
                </a:tc>
                <a:tc>
                  <a:txBody>
                    <a:bodyPr/>
                    <a:lstStyle/>
                    <a:p>
                      <a:pPr>
                        <a:defRPr b="1" sz="1100"/>
                      </a:pPr>
                      <a:r>
                        <a:t>Policy Coverage</a:t>
                      </a:r>
                    </a:p>
                  </a:txBody>
                  <a:tcPr/>
                </a:tc>
                <a:tc>
                  <a:txBody>
                    <a:bodyPr/>
                    <a:lstStyle/>
                    <a:p>
                      <a:pPr>
                        <a:defRPr b="1" sz="1100"/>
                      </a:pPr>
                      <a:r>
                        <a:t>Audit SLA</a:t>
                      </a:r>
                    </a:p>
                  </a:txBody>
                  <a:tcPr/>
                </a:tc>
                <a:tc>
                  <a:txBody>
                    <a:bodyPr/>
                    <a:lstStyle/>
                    <a:p>
                      <a:pPr>
                        <a:defRPr b="1" sz="1100"/>
                      </a:pPr>
                      <a:r>
                        <a:t>Compliance Score</a:t>
                      </a:r>
                    </a:p>
                  </a:txBody>
                  <a:tcPr/>
                </a:tc>
              </a:tr>
              <a:tr h="347472">
                <a:tc>
                  <a:txBody>
                    <a:bodyPr/>
                    <a:lstStyle/>
                    <a:p>
                      <a:pPr>
                        <a:defRPr sz="1000"/>
                      </a:pPr>
                      <a:r>
                        <a:t>North America</a:t>
                      </a:r>
                    </a:p>
                  </a:txBody>
                  <a:tcPr/>
                </a:tc>
                <a:tc>
                  <a:txBody>
                    <a:bodyPr/>
                    <a:lstStyle/>
                    <a:p>
                      <a:pPr>
                        <a:defRPr sz="1000"/>
                      </a:pPr>
                      <a:r>
                        <a:t>100%</a:t>
                      </a:r>
                    </a:p>
                  </a:txBody>
                  <a:tcPr/>
                </a:tc>
                <a:tc>
                  <a:txBody>
                    <a:bodyPr/>
                    <a:lstStyle/>
                    <a:p>
                      <a:pPr>
                        <a:defRPr sz="1000"/>
                      </a:pPr>
                      <a:r>
                        <a:t>5 business days</a:t>
                      </a:r>
                    </a:p>
                  </a:txBody>
                  <a:tcPr/>
                </a:tc>
                <a:tc>
                  <a:txBody>
                    <a:bodyPr/>
                    <a:lstStyle/>
                    <a:p>
                      <a:pPr>
                        <a:defRPr sz="1000"/>
                      </a:pPr>
                      <a:r>
                        <a:t>98.4%</a:t>
                      </a:r>
                    </a:p>
                  </a:txBody>
                  <a:tcPr/>
                </a:tc>
              </a:tr>
              <a:tr h="347472">
                <a:tc>
                  <a:txBody>
                    <a:bodyPr/>
                    <a:lstStyle/>
                    <a:p>
                      <a:pPr>
                        <a:defRPr sz="1000"/>
                      </a:pPr>
                      <a:r>
                        <a:t>EMEA</a:t>
                      </a:r>
                    </a:p>
                  </a:txBody>
                  <a:tcPr/>
                </a:tc>
                <a:tc>
                  <a:txBody>
                    <a:bodyPr/>
                    <a:lstStyle/>
                    <a:p>
                      <a:pPr>
                        <a:defRPr sz="1000"/>
                      </a:pPr>
                      <a:r>
                        <a:t>99%</a:t>
                      </a:r>
                    </a:p>
                  </a:txBody>
                  <a:tcPr/>
                </a:tc>
                <a:tc>
                  <a:txBody>
                    <a:bodyPr/>
                    <a:lstStyle/>
                    <a:p>
                      <a:pPr>
                        <a:defRPr sz="1000"/>
                      </a:pPr>
                      <a:r>
                        <a:t>5 business days</a:t>
                      </a:r>
                    </a:p>
                  </a:txBody>
                  <a:tcPr/>
                </a:tc>
                <a:tc>
                  <a:txBody>
                    <a:bodyPr/>
                    <a:lstStyle/>
                    <a:p>
                      <a:pPr>
                        <a:defRPr sz="1000"/>
                      </a:pPr>
                      <a:r>
                        <a:t>97.9%</a:t>
                      </a:r>
                    </a:p>
                  </a:txBody>
                  <a:tcPr/>
                </a:tc>
              </a:tr>
              <a:tr h="347472">
                <a:tc>
                  <a:txBody>
                    <a:bodyPr/>
                    <a:lstStyle/>
                    <a:p>
                      <a:pPr>
                        <a:defRPr sz="1000"/>
                      </a:pPr>
                      <a:r>
                        <a:t>APAC</a:t>
                      </a:r>
                    </a:p>
                  </a:txBody>
                  <a:tcPr/>
                </a:tc>
                <a:tc>
                  <a:txBody>
                    <a:bodyPr/>
                    <a:lstStyle/>
                    <a:p>
                      <a:pPr>
                        <a:defRPr sz="1000"/>
                      </a:pPr>
                      <a:r>
                        <a:t>98%</a:t>
                      </a:r>
                    </a:p>
                  </a:txBody>
                  <a:tcPr/>
                </a:tc>
                <a:tc>
                  <a:txBody>
                    <a:bodyPr/>
                    <a:lstStyle/>
                    <a:p>
                      <a:pPr>
                        <a:defRPr sz="1000"/>
                      </a:pPr>
                      <a:r>
                        <a:t>7 business days</a:t>
                      </a:r>
                    </a:p>
                  </a:txBody>
                  <a:tcPr/>
                </a:tc>
                <a:tc>
                  <a:txBody>
                    <a:bodyPr/>
                    <a:lstStyle/>
                    <a:p>
                      <a:pPr>
                        <a:defRPr sz="1000"/>
                      </a:pPr>
                      <a:r>
                        <a:t>96.8%</a:t>
                      </a:r>
                    </a:p>
                  </a:txBody>
                  <a:tcPr/>
                </a:tc>
              </a:tr>
              <a:tr h="347472">
                <a:tc>
                  <a:txBody>
                    <a:bodyPr/>
                    <a:lstStyle/>
                    <a:p>
                      <a:pPr>
                        <a:defRPr sz="1000"/>
                      </a:pPr>
                      <a:r>
                        <a:t>Sec-4</a:t>
                      </a:r>
                    </a:p>
                  </a:txBody>
                  <a:tcPr/>
                </a:tc>
                <a:tc>
                  <a:txBody>
                    <a:bodyPr/>
                    <a:lstStyle/>
                    <a:p>
                      <a:pPr>
                        <a:defRPr sz="1000"/>
                      </a:pPr>
                      <a:r>
                        <a:t>100%</a:t>
                      </a:r>
                    </a:p>
                  </a:txBody>
                  <a:tcPr/>
                </a:tc>
                <a:tc>
                  <a:txBody>
                    <a:bodyPr/>
                    <a:lstStyle/>
                    <a:p>
                      <a:pPr>
                        <a:defRPr sz="1000"/>
                      </a:pPr>
                      <a:r>
                        <a:t>5 business days</a:t>
                      </a:r>
                    </a:p>
                  </a:txBody>
                  <a:tcPr/>
                </a:tc>
                <a:tc>
                  <a:txBody>
                    <a:bodyPr/>
                    <a:lstStyle/>
                    <a:p>
                      <a:pPr>
                        <a:defRPr sz="1000"/>
                      </a:pPr>
                      <a:r>
                        <a:t>Stage 4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Roles, Responsibilities &amp; RACI - Global Workplace Governance Architec</a:t>
            </a:r>
          </a:p>
        </p:txBody>
      </p:sp>
      <p:sp>
        <p:nvSpPr>
          <p:cNvPr id="3" name="Content Placeholder 2"/>
          <p:cNvSpPr>
            <a:spLocks noGrp="1"/>
          </p:cNvSpPr>
          <p:nvPr>
            <p:ph idx="1"/>
          </p:nvPr>
        </p:nvSpPr>
        <p:spPr/>
        <p:txBody>
          <a:bodyPr/>
          <a:lstStyle/>
          <a:p>
            <a:r>
              <a:t>Multi-slide executive presentation covering global HR policy architecture, regional compliance matrices, escalation paths, and annual audit readiness. Section 5 (Roles, Responsibilities &amp; RACI) applies to HR Policies within HR Knowledge Hub and is maintained by Maria Chen. Clarifies ownership across accountable executives, operational leads, and reviewers.</a:t>
            </a:r>
          </a:p>
          <a:p>
            <a:pPr lvl="1"/>
            <a:r>
              <a:t>Standardizes policy governance across North America, EMEA, and APAC hubs.</a:t>
            </a:r>
          </a:p>
          <a:p>
            <a:pPr lvl="1"/>
            <a:r>
              <a:t>Maps statutory compliance controls to quarterly HR Business Partner audit checkpoints.</a:t>
            </a:r>
          </a:p>
          <a:p>
            <a:pPr lvl="1"/>
            <a:r>
              <a:t>Section 5 review cadence is tracked by Maria Chen under HR Policies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Region</a:t>
                      </a:r>
                    </a:p>
                  </a:txBody>
                  <a:tcPr/>
                </a:tc>
                <a:tc>
                  <a:txBody>
                    <a:bodyPr/>
                    <a:lstStyle/>
                    <a:p>
                      <a:pPr>
                        <a:defRPr b="1" sz="1100"/>
                      </a:pPr>
                      <a:r>
                        <a:t>Policy Coverage</a:t>
                      </a:r>
                    </a:p>
                  </a:txBody>
                  <a:tcPr/>
                </a:tc>
                <a:tc>
                  <a:txBody>
                    <a:bodyPr/>
                    <a:lstStyle/>
                    <a:p>
                      <a:pPr>
                        <a:defRPr b="1" sz="1100"/>
                      </a:pPr>
                      <a:r>
                        <a:t>Audit SLA</a:t>
                      </a:r>
                    </a:p>
                  </a:txBody>
                  <a:tcPr/>
                </a:tc>
                <a:tc>
                  <a:txBody>
                    <a:bodyPr/>
                    <a:lstStyle/>
                    <a:p>
                      <a:pPr>
                        <a:defRPr b="1" sz="1100"/>
                      </a:pPr>
                      <a:r>
                        <a:t>Compliance Score</a:t>
                      </a:r>
                    </a:p>
                  </a:txBody>
                  <a:tcPr/>
                </a:tc>
              </a:tr>
              <a:tr h="347472">
                <a:tc>
                  <a:txBody>
                    <a:bodyPr/>
                    <a:lstStyle/>
                    <a:p>
                      <a:pPr>
                        <a:defRPr sz="1000"/>
                      </a:pPr>
                      <a:r>
                        <a:t>North America</a:t>
                      </a:r>
                    </a:p>
                  </a:txBody>
                  <a:tcPr/>
                </a:tc>
                <a:tc>
                  <a:txBody>
                    <a:bodyPr/>
                    <a:lstStyle/>
                    <a:p>
                      <a:pPr>
                        <a:defRPr sz="1000"/>
                      </a:pPr>
                      <a:r>
                        <a:t>100%</a:t>
                      </a:r>
                    </a:p>
                  </a:txBody>
                  <a:tcPr/>
                </a:tc>
                <a:tc>
                  <a:txBody>
                    <a:bodyPr/>
                    <a:lstStyle/>
                    <a:p>
                      <a:pPr>
                        <a:defRPr sz="1000"/>
                      </a:pPr>
                      <a:r>
                        <a:t>5 business days</a:t>
                      </a:r>
                    </a:p>
                  </a:txBody>
                  <a:tcPr/>
                </a:tc>
                <a:tc>
                  <a:txBody>
                    <a:bodyPr/>
                    <a:lstStyle/>
                    <a:p>
                      <a:pPr>
                        <a:defRPr sz="1000"/>
                      </a:pPr>
                      <a:r>
                        <a:t>98.4%</a:t>
                      </a:r>
                    </a:p>
                  </a:txBody>
                  <a:tcPr/>
                </a:tc>
              </a:tr>
              <a:tr h="347472">
                <a:tc>
                  <a:txBody>
                    <a:bodyPr/>
                    <a:lstStyle/>
                    <a:p>
                      <a:pPr>
                        <a:defRPr sz="1000"/>
                      </a:pPr>
                      <a:r>
                        <a:t>EMEA</a:t>
                      </a:r>
                    </a:p>
                  </a:txBody>
                  <a:tcPr/>
                </a:tc>
                <a:tc>
                  <a:txBody>
                    <a:bodyPr/>
                    <a:lstStyle/>
                    <a:p>
                      <a:pPr>
                        <a:defRPr sz="1000"/>
                      </a:pPr>
                      <a:r>
                        <a:t>99%</a:t>
                      </a:r>
                    </a:p>
                  </a:txBody>
                  <a:tcPr/>
                </a:tc>
                <a:tc>
                  <a:txBody>
                    <a:bodyPr/>
                    <a:lstStyle/>
                    <a:p>
                      <a:pPr>
                        <a:defRPr sz="1000"/>
                      </a:pPr>
                      <a:r>
                        <a:t>5 business days</a:t>
                      </a:r>
                    </a:p>
                  </a:txBody>
                  <a:tcPr/>
                </a:tc>
                <a:tc>
                  <a:txBody>
                    <a:bodyPr/>
                    <a:lstStyle/>
                    <a:p>
                      <a:pPr>
                        <a:defRPr sz="1000"/>
                      </a:pPr>
                      <a:r>
                        <a:t>97.9%</a:t>
                      </a:r>
                    </a:p>
                  </a:txBody>
                  <a:tcPr/>
                </a:tc>
              </a:tr>
              <a:tr h="347472">
                <a:tc>
                  <a:txBody>
                    <a:bodyPr/>
                    <a:lstStyle/>
                    <a:p>
                      <a:pPr>
                        <a:defRPr sz="1000"/>
                      </a:pPr>
                      <a:r>
                        <a:t>APAC</a:t>
                      </a:r>
                    </a:p>
                  </a:txBody>
                  <a:tcPr/>
                </a:tc>
                <a:tc>
                  <a:txBody>
                    <a:bodyPr/>
                    <a:lstStyle/>
                    <a:p>
                      <a:pPr>
                        <a:defRPr sz="1000"/>
                      </a:pPr>
                      <a:r>
                        <a:t>98%</a:t>
                      </a:r>
                    </a:p>
                  </a:txBody>
                  <a:tcPr/>
                </a:tc>
                <a:tc>
                  <a:txBody>
                    <a:bodyPr/>
                    <a:lstStyle/>
                    <a:p>
                      <a:pPr>
                        <a:defRPr sz="1000"/>
                      </a:pPr>
                      <a:r>
                        <a:t>7 business days</a:t>
                      </a:r>
                    </a:p>
                  </a:txBody>
                  <a:tcPr/>
                </a:tc>
                <a:tc>
                  <a:txBody>
                    <a:bodyPr/>
                    <a:lstStyle/>
                    <a:p>
                      <a:pPr>
                        <a:defRPr sz="1000"/>
                      </a:pPr>
                      <a:r>
                        <a:t>96.8%</a:t>
                      </a:r>
                    </a:p>
                  </a:txBody>
                  <a:tcPr/>
                </a:tc>
              </a:tr>
              <a:tr h="347472">
                <a:tc>
                  <a:txBody>
                    <a:bodyPr/>
                    <a:lstStyle/>
                    <a:p>
                      <a:pPr>
                        <a:defRPr sz="1000"/>
                      </a:pPr>
                      <a:r>
                        <a:t>Sec-5</a:t>
                      </a:r>
                    </a:p>
                  </a:txBody>
                  <a:tcPr/>
                </a:tc>
                <a:tc>
                  <a:txBody>
                    <a:bodyPr/>
                    <a:lstStyle/>
                    <a:p>
                      <a:pPr>
                        <a:defRPr sz="1000"/>
                      </a:pPr>
                      <a:r>
                        <a:t>99%</a:t>
                      </a:r>
                    </a:p>
                  </a:txBody>
                  <a:tcPr/>
                </a:tc>
                <a:tc>
                  <a:txBody>
                    <a:bodyPr/>
                    <a:lstStyle/>
                    <a:p>
                      <a:pPr>
                        <a:defRPr sz="1000"/>
                      </a:pPr>
                      <a:r>
                        <a:t>5 business days</a:t>
                      </a:r>
                    </a:p>
                  </a:txBody>
                  <a:tcPr/>
                </a:tc>
                <a:tc>
                  <a:txBody>
                    <a:bodyPr/>
                    <a:lstStyle/>
                    <a:p>
                      <a:pPr>
                        <a:defRPr sz="1000"/>
                      </a:pPr>
                      <a:r>
                        <a:t>Stage 5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 Standard Operating Procedures - Global Workplace Governance Architec</a:t>
            </a:r>
          </a:p>
        </p:txBody>
      </p:sp>
      <p:sp>
        <p:nvSpPr>
          <p:cNvPr id="3" name="Content Placeholder 2"/>
          <p:cNvSpPr>
            <a:spLocks noGrp="1"/>
          </p:cNvSpPr>
          <p:nvPr>
            <p:ph idx="1"/>
          </p:nvPr>
        </p:nvSpPr>
        <p:spPr/>
        <p:txBody>
          <a:bodyPr/>
          <a:lstStyle/>
          <a:p>
            <a:r>
              <a:t>Multi-slide executive presentation covering global HR policy architecture, regional compliance matrices, escalation paths, and annual audit readiness. Section 6 (Standard Operating Procedures) applies to HR Policies within HR Knowledge Hub and is maintained by Maria Chen. Provides step-by-step execution checklists, intake criteria, and verification gates.</a:t>
            </a:r>
          </a:p>
          <a:p>
            <a:pPr lvl="1"/>
            <a:r>
              <a:t>Maps statutory compliance controls to quarterly HR Business Partner audit checkpoints.</a:t>
            </a:r>
          </a:p>
          <a:p>
            <a:pPr lvl="1"/>
            <a:r>
              <a:t>Integrates incident intake, investigation SLAs, and executive reporting dashboards.</a:t>
            </a:r>
          </a:p>
          <a:p>
            <a:pPr lvl="1"/>
            <a:r>
              <a:t>Section 6 review cadence is tracked by Maria Chen under HR Policies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Region</a:t>
                      </a:r>
                    </a:p>
                  </a:txBody>
                  <a:tcPr/>
                </a:tc>
                <a:tc>
                  <a:txBody>
                    <a:bodyPr/>
                    <a:lstStyle/>
                    <a:p>
                      <a:pPr>
                        <a:defRPr b="1" sz="1100"/>
                      </a:pPr>
                      <a:r>
                        <a:t>Policy Coverage</a:t>
                      </a:r>
                    </a:p>
                  </a:txBody>
                  <a:tcPr/>
                </a:tc>
                <a:tc>
                  <a:txBody>
                    <a:bodyPr/>
                    <a:lstStyle/>
                    <a:p>
                      <a:pPr>
                        <a:defRPr b="1" sz="1100"/>
                      </a:pPr>
                      <a:r>
                        <a:t>Audit SLA</a:t>
                      </a:r>
                    </a:p>
                  </a:txBody>
                  <a:tcPr/>
                </a:tc>
                <a:tc>
                  <a:txBody>
                    <a:bodyPr/>
                    <a:lstStyle/>
                    <a:p>
                      <a:pPr>
                        <a:defRPr b="1" sz="1100"/>
                      </a:pPr>
                      <a:r>
                        <a:t>Compliance Score</a:t>
                      </a:r>
                    </a:p>
                  </a:txBody>
                  <a:tcPr/>
                </a:tc>
              </a:tr>
              <a:tr h="347472">
                <a:tc>
                  <a:txBody>
                    <a:bodyPr/>
                    <a:lstStyle/>
                    <a:p>
                      <a:pPr>
                        <a:defRPr sz="1000"/>
                      </a:pPr>
                      <a:r>
                        <a:t>North America</a:t>
                      </a:r>
                    </a:p>
                  </a:txBody>
                  <a:tcPr/>
                </a:tc>
                <a:tc>
                  <a:txBody>
                    <a:bodyPr/>
                    <a:lstStyle/>
                    <a:p>
                      <a:pPr>
                        <a:defRPr sz="1000"/>
                      </a:pPr>
                      <a:r>
                        <a:t>100%</a:t>
                      </a:r>
                    </a:p>
                  </a:txBody>
                  <a:tcPr/>
                </a:tc>
                <a:tc>
                  <a:txBody>
                    <a:bodyPr/>
                    <a:lstStyle/>
                    <a:p>
                      <a:pPr>
                        <a:defRPr sz="1000"/>
                      </a:pPr>
                      <a:r>
                        <a:t>5 business days</a:t>
                      </a:r>
                    </a:p>
                  </a:txBody>
                  <a:tcPr/>
                </a:tc>
                <a:tc>
                  <a:txBody>
                    <a:bodyPr/>
                    <a:lstStyle/>
                    <a:p>
                      <a:pPr>
                        <a:defRPr sz="1000"/>
                      </a:pPr>
                      <a:r>
                        <a:t>98.4%</a:t>
                      </a:r>
                    </a:p>
                  </a:txBody>
                  <a:tcPr/>
                </a:tc>
              </a:tr>
              <a:tr h="347472">
                <a:tc>
                  <a:txBody>
                    <a:bodyPr/>
                    <a:lstStyle/>
                    <a:p>
                      <a:pPr>
                        <a:defRPr sz="1000"/>
                      </a:pPr>
                      <a:r>
                        <a:t>EMEA</a:t>
                      </a:r>
                    </a:p>
                  </a:txBody>
                  <a:tcPr/>
                </a:tc>
                <a:tc>
                  <a:txBody>
                    <a:bodyPr/>
                    <a:lstStyle/>
                    <a:p>
                      <a:pPr>
                        <a:defRPr sz="1000"/>
                      </a:pPr>
                      <a:r>
                        <a:t>99%</a:t>
                      </a:r>
                    </a:p>
                  </a:txBody>
                  <a:tcPr/>
                </a:tc>
                <a:tc>
                  <a:txBody>
                    <a:bodyPr/>
                    <a:lstStyle/>
                    <a:p>
                      <a:pPr>
                        <a:defRPr sz="1000"/>
                      </a:pPr>
                      <a:r>
                        <a:t>5 business days</a:t>
                      </a:r>
                    </a:p>
                  </a:txBody>
                  <a:tcPr/>
                </a:tc>
                <a:tc>
                  <a:txBody>
                    <a:bodyPr/>
                    <a:lstStyle/>
                    <a:p>
                      <a:pPr>
                        <a:defRPr sz="1000"/>
                      </a:pPr>
                      <a:r>
                        <a:t>97.9%</a:t>
                      </a:r>
                    </a:p>
                  </a:txBody>
                  <a:tcPr/>
                </a:tc>
              </a:tr>
              <a:tr h="347472">
                <a:tc>
                  <a:txBody>
                    <a:bodyPr/>
                    <a:lstStyle/>
                    <a:p>
                      <a:pPr>
                        <a:defRPr sz="1000"/>
                      </a:pPr>
                      <a:r>
                        <a:t>APAC</a:t>
                      </a:r>
                    </a:p>
                  </a:txBody>
                  <a:tcPr/>
                </a:tc>
                <a:tc>
                  <a:txBody>
                    <a:bodyPr/>
                    <a:lstStyle/>
                    <a:p>
                      <a:pPr>
                        <a:defRPr sz="1000"/>
                      </a:pPr>
                      <a:r>
                        <a:t>98%</a:t>
                      </a:r>
                    </a:p>
                  </a:txBody>
                  <a:tcPr/>
                </a:tc>
                <a:tc>
                  <a:txBody>
                    <a:bodyPr/>
                    <a:lstStyle/>
                    <a:p>
                      <a:pPr>
                        <a:defRPr sz="1000"/>
                      </a:pPr>
                      <a:r>
                        <a:t>7 business days</a:t>
                      </a:r>
                    </a:p>
                  </a:txBody>
                  <a:tcPr/>
                </a:tc>
                <a:tc>
                  <a:txBody>
                    <a:bodyPr/>
                    <a:lstStyle/>
                    <a:p>
                      <a:pPr>
                        <a:defRPr sz="1000"/>
                      </a:pPr>
                      <a:r>
                        <a:t>96.8%</a:t>
                      </a:r>
                    </a:p>
                  </a:txBody>
                  <a:tcPr/>
                </a:tc>
              </a:tr>
              <a:tr h="347472">
                <a:tc>
                  <a:txBody>
                    <a:bodyPr/>
                    <a:lstStyle/>
                    <a:p>
                      <a:pPr>
                        <a:defRPr sz="1000"/>
                      </a:pPr>
                      <a:r>
                        <a:t>Sec-6</a:t>
                      </a:r>
                    </a:p>
                  </a:txBody>
                  <a:tcPr/>
                </a:tc>
                <a:tc>
                  <a:txBody>
                    <a:bodyPr/>
                    <a:lstStyle/>
                    <a:p>
                      <a:pPr>
                        <a:defRPr sz="1000"/>
                      </a:pPr>
                      <a:r>
                        <a:t>98%</a:t>
                      </a:r>
                    </a:p>
                  </a:txBody>
                  <a:tcPr/>
                </a:tc>
                <a:tc>
                  <a:txBody>
                    <a:bodyPr/>
                    <a:lstStyle/>
                    <a:p>
                      <a:pPr>
                        <a:defRPr sz="1000"/>
                      </a:pPr>
                      <a:r>
                        <a:t>7 business days</a:t>
                      </a:r>
                    </a:p>
                  </a:txBody>
                  <a:tcPr/>
                </a:tc>
                <a:tc>
                  <a:txBody>
                    <a:bodyPr/>
                    <a:lstStyle/>
                    <a:p>
                      <a:pPr>
                        <a:defRPr sz="1000"/>
                      </a:pPr>
                      <a:r>
                        <a:t>Stage 6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Risk Register &amp; Mitigations - Global Workplace Governance Architec</a:t>
            </a:r>
          </a:p>
        </p:txBody>
      </p:sp>
      <p:sp>
        <p:nvSpPr>
          <p:cNvPr id="3" name="Content Placeholder 2"/>
          <p:cNvSpPr>
            <a:spLocks noGrp="1"/>
          </p:cNvSpPr>
          <p:nvPr>
            <p:ph idx="1"/>
          </p:nvPr>
        </p:nvSpPr>
        <p:spPr/>
        <p:txBody>
          <a:bodyPr/>
          <a:lstStyle/>
          <a:p>
            <a:r>
              <a:t>Multi-slide executive presentation covering global HR policy architecture, regional compliance matrices, escalation paths, and annual audit readiness. Section 7 (Risk Register &amp; Mitigations) applies to HR Policies within HR Knowledge Hub and is maintained by Maria Chen. Catalogs operational, compliance, and delivery risks alongside preventive mitigations.</a:t>
            </a:r>
          </a:p>
          <a:p>
            <a:pPr lvl="1"/>
            <a:r>
              <a:t>Integrates incident intake, investigation SLAs, and executive reporting dashboards.</a:t>
            </a:r>
          </a:p>
          <a:p>
            <a:pPr lvl="1"/>
            <a:r>
              <a:t>Defines annual policy review cycles and version control requirements.</a:t>
            </a:r>
          </a:p>
          <a:p>
            <a:pPr lvl="1"/>
            <a:r>
              <a:t>Section 7 review cadence is tracked by Maria Chen under HR Policies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Region</a:t>
                      </a:r>
                    </a:p>
                  </a:txBody>
                  <a:tcPr/>
                </a:tc>
                <a:tc>
                  <a:txBody>
                    <a:bodyPr/>
                    <a:lstStyle/>
                    <a:p>
                      <a:pPr>
                        <a:defRPr b="1" sz="1100"/>
                      </a:pPr>
                      <a:r>
                        <a:t>Policy Coverage</a:t>
                      </a:r>
                    </a:p>
                  </a:txBody>
                  <a:tcPr/>
                </a:tc>
                <a:tc>
                  <a:txBody>
                    <a:bodyPr/>
                    <a:lstStyle/>
                    <a:p>
                      <a:pPr>
                        <a:defRPr b="1" sz="1100"/>
                      </a:pPr>
                      <a:r>
                        <a:t>Audit SLA</a:t>
                      </a:r>
                    </a:p>
                  </a:txBody>
                  <a:tcPr/>
                </a:tc>
                <a:tc>
                  <a:txBody>
                    <a:bodyPr/>
                    <a:lstStyle/>
                    <a:p>
                      <a:pPr>
                        <a:defRPr b="1" sz="1100"/>
                      </a:pPr>
                      <a:r>
                        <a:t>Compliance Score</a:t>
                      </a:r>
                    </a:p>
                  </a:txBody>
                  <a:tcPr/>
                </a:tc>
              </a:tr>
              <a:tr h="347472">
                <a:tc>
                  <a:txBody>
                    <a:bodyPr/>
                    <a:lstStyle/>
                    <a:p>
                      <a:pPr>
                        <a:defRPr sz="1000"/>
                      </a:pPr>
                      <a:r>
                        <a:t>North America</a:t>
                      </a:r>
                    </a:p>
                  </a:txBody>
                  <a:tcPr/>
                </a:tc>
                <a:tc>
                  <a:txBody>
                    <a:bodyPr/>
                    <a:lstStyle/>
                    <a:p>
                      <a:pPr>
                        <a:defRPr sz="1000"/>
                      </a:pPr>
                      <a:r>
                        <a:t>100%</a:t>
                      </a:r>
                    </a:p>
                  </a:txBody>
                  <a:tcPr/>
                </a:tc>
                <a:tc>
                  <a:txBody>
                    <a:bodyPr/>
                    <a:lstStyle/>
                    <a:p>
                      <a:pPr>
                        <a:defRPr sz="1000"/>
                      </a:pPr>
                      <a:r>
                        <a:t>5 business days</a:t>
                      </a:r>
                    </a:p>
                  </a:txBody>
                  <a:tcPr/>
                </a:tc>
                <a:tc>
                  <a:txBody>
                    <a:bodyPr/>
                    <a:lstStyle/>
                    <a:p>
                      <a:pPr>
                        <a:defRPr sz="1000"/>
                      </a:pPr>
                      <a:r>
                        <a:t>98.4%</a:t>
                      </a:r>
                    </a:p>
                  </a:txBody>
                  <a:tcPr/>
                </a:tc>
              </a:tr>
              <a:tr h="347472">
                <a:tc>
                  <a:txBody>
                    <a:bodyPr/>
                    <a:lstStyle/>
                    <a:p>
                      <a:pPr>
                        <a:defRPr sz="1000"/>
                      </a:pPr>
                      <a:r>
                        <a:t>EMEA</a:t>
                      </a:r>
                    </a:p>
                  </a:txBody>
                  <a:tcPr/>
                </a:tc>
                <a:tc>
                  <a:txBody>
                    <a:bodyPr/>
                    <a:lstStyle/>
                    <a:p>
                      <a:pPr>
                        <a:defRPr sz="1000"/>
                      </a:pPr>
                      <a:r>
                        <a:t>99%</a:t>
                      </a:r>
                    </a:p>
                  </a:txBody>
                  <a:tcPr/>
                </a:tc>
                <a:tc>
                  <a:txBody>
                    <a:bodyPr/>
                    <a:lstStyle/>
                    <a:p>
                      <a:pPr>
                        <a:defRPr sz="1000"/>
                      </a:pPr>
                      <a:r>
                        <a:t>5 business days</a:t>
                      </a:r>
                    </a:p>
                  </a:txBody>
                  <a:tcPr/>
                </a:tc>
                <a:tc>
                  <a:txBody>
                    <a:bodyPr/>
                    <a:lstStyle/>
                    <a:p>
                      <a:pPr>
                        <a:defRPr sz="1000"/>
                      </a:pPr>
                      <a:r>
                        <a:t>97.9%</a:t>
                      </a:r>
                    </a:p>
                  </a:txBody>
                  <a:tcPr/>
                </a:tc>
              </a:tr>
              <a:tr h="347472">
                <a:tc>
                  <a:txBody>
                    <a:bodyPr/>
                    <a:lstStyle/>
                    <a:p>
                      <a:pPr>
                        <a:defRPr sz="1000"/>
                      </a:pPr>
                      <a:r>
                        <a:t>APAC</a:t>
                      </a:r>
                    </a:p>
                  </a:txBody>
                  <a:tcPr/>
                </a:tc>
                <a:tc>
                  <a:txBody>
                    <a:bodyPr/>
                    <a:lstStyle/>
                    <a:p>
                      <a:pPr>
                        <a:defRPr sz="1000"/>
                      </a:pPr>
                      <a:r>
                        <a:t>98%</a:t>
                      </a:r>
                    </a:p>
                  </a:txBody>
                  <a:tcPr/>
                </a:tc>
                <a:tc>
                  <a:txBody>
                    <a:bodyPr/>
                    <a:lstStyle/>
                    <a:p>
                      <a:pPr>
                        <a:defRPr sz="1000"/>
                      </a:pPr>
                      <a:r>
                        <a:t>7 business days</a:t>
                      </a:r>
                    </a:p>
                  </a:txBody>
                  <a:tcPr/>
                </a:tc>
                <a:tc>
                  <a:txBody>
                    <a:bodyPr/>
                    <a:lstStyle/>
                    <a:p>
                      <a:pPr>
                        <a:defRPr sz="1000"/>
                      </a:pPr>
                      <a:r>
                        <a:t>96.8%</a:t>
                      </a:r>
                    </a:p>
                  </a:txBody>
                  <a:tcPr/>
                </a:tc>
              </a:tr>
              <a:tr h="347472">
                <a:tc>
                  <a:txBody>
                    <a:bodyPr/>
                    <a:lstStyle/>
                    <a:p>
                      <a:pPr>
                        <a:defRPr sz="1000"/>
                      </a:pPr>
                      <a:r>
                        <a:t>Sec-7</a:t>
                      </a:r>
                    </a:p>
                  </a:txBody>
                  <a:tcPr/>
                </a:tc>
                <a:tc>
                  <a:txBody>
                    <a:bodyPr/>
                    <a:lstStyle/>
                    <a:p>
                      <a:pPr>
                        <a:defRPr sz="1000"/>
                      </a:pPr>
                      <a:r>
                        <a:t>100%</a:t>
                      </a:r>
                    </a:p>
                  </a:txBody>
                  <a:tcPr/>
                </a:tc>
                <a:tc>
                  <a:txBody>
                    <a:bodyPr/>
                    <a:lstStyle/>
                    <a:p>
                      <a:pPr>
                        <a:defRPr sz="1000"/>
                      </a:pPr>
                      <a:r>
                        <a:t>5 business days</a:t>
                      </a:r>
                    </a:p>
                  </a:txBody>
                  <a:tcPr/>
                </a:tc>
                <a:tc>
                  <a:txBody>
                    <a:bodyPr/>
                    <a:lstStyle/>
                    <a:p>
                      <a:pPr>
                        <a:defRPr sz="1000"/>
                      </a:pPr>
                      <a:r>
                        <a:t>Stage 7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 Quality Assurance &amp; Audits - Global Workplace Governance Architec</a:t>
            </a:r>
          </a:p>
        </p:txBody>
      </p:sp>
      <p:sp>
        <p:nvSpPr>
          <p:cNvPr id="3" name="Content Placeholder 2"/>
          <p:cNvSpPr>
            <a:spLocks noGrp="1"/>
          </p:cNvSpPr>
          <p:nvPr>
            <p:ph idx="1"/>
          </p:nvPr>
        </p:nvSpPr>
        <p:spPr/>
        <p:txBody>
          <a:bodyPr/>
          <a:lstStyle/>
          <a:p>
            <a:r>
              <a:t>Multi-slide executive presentation covering global HR policy architecture, regional compliance matrices, escalation paths, and annual audit readiness. Section 8 (Quality Assurance &amp; Audits) applies to HR Policies within HR Knowledge Hub and is maintained by Maria Chen. Specifies sampling frequencies, inspection tolerances, and nonconformance workflows.</a:t>
            </a:r>
          </a:p>
          <a:p>
            <a:pPr lvl="1"/>
            <a:r>
              <a:t>Defines annual policy review cycles and version control requirements.</a:t>
            </a:r>
          </a:p>
          <a:p>
            <a:pPr lvl="1"/>
            <a:r>
              <a:t>Standardizes policy governance across North America, EMEA, and APAC hubs.</a:t>
            </a:r>
          </a:p>
          <a:p>
            <a:pPr lvl="1"/>
            <a:r>
              <a:t>Section 8 review cadence is tracked by Maria Chen under HR Policies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Region</a:t>
                      </a:r>
                    </a:p>
                  </a:txBody>
                  <a:tcPr/>
                </a:tc>
                <a:tc>
                  <a:txBody>
                    <a:bodyPr/>
                    <a:lstStyle/>
                    <a:p>
                      <a:pPr>
                        <a:defRPr b="1" sz="1100"/>
                      </a:pPr>
                      <a:r>
                        <a:t>Policy Coverage</a:t>
                      </a:r>
                    </a:p>
                  </a:txBody>
                  <a:tcPr/>
                </a:tc>
                <a:tc>
                  <a:txBody>
                    <a:bodyPr/>
                    <a:lstStyle/>
                    <a:p>
                      <a:pPr>
                        <a:defRPr b="1" sz="1100"/>
                      </a:pPr>
                      <a:r>
                        <a:t>Audit SLA</a:t>
                      </a:r>
                    </a:p>
                  </a:txBody>
                  <a:tcPr/>
                </a:tc>
                <a:tc>
                  <a:txBody>
                    <a:bodyPr/>
                    <a:lstStyle/>
                    <a:p>
                      <a:pPr>
                        <a:defRPr b="1" sz="1100"/>
                      </a:pPr>
                      <a:r>
                        <a:t>Compliance Score</a:t>
                      </a:r>
                    </a:p>
                  </a:txBody>
                  <a:tcPr/>
                </a:tc>
              </a:tr>
              <a:tr h="347472">
                <a:tc>
                  <a:txBody>
                    <a:bodyPr/>
                    <a:lstStyle/>
                    <a:p>
                      <a:pPr>
                        <a:defRPr sz="1000"/>
                      </a:pPr>
                      <a:r>
                        <a:t>North America</a:t>
                      </a:r>
                    </a:p>
                  </a:txBody>
                  <a:tcPr/>
                </a:tc>
                <a:tc>
                  <a:txBody>
                    <a:bodyPr/>
                    <a:lstStyle/>
                    <a:p>
                      <a:pPr>
                        <a:defRPr sz="1000"/>
                      </a:pPr>
                      <a:r>
                        <a:t>100%</a:t>
                      </a:r>
                    </a:p>
                  </a:txBody>
                  <a:tcPr/>
                </a:tc>
                <a:tc>
                  <a:txBody>
                    <a:bodyPr/>
                    <a:lstStyle/>
                    <a:p>
                      <a:pPr>
                        <a:defRPr sz="1000"/>
                      </a:pPr>
                      <a:r>
                        <a:t>5 business days</a:t>
                      </a:r>
                    </a:p>
                  </a:txBody>
                  <a:tcPr/>
                </a:tc>
                <a:tc>
                  <a:txBody>
                    <a:bodyPr/>
                    <a:lstStyle/>
                    <a:p>
                      <a:pPr>
                        <a:defRPr sz="1000"/>
                      </a:pPr>
                      <a:r>
                        <a:t>98.4%</a:t>
                      </a:r>
                    </a:p>
                  </a:txBody>
                  <a:tcPr/>
                </a:tc>
              </a:tr>
              <a:tr h="347472">
                <a:tc>
                  <a:txBody>
                    <a:bodyPr/>
                    <a:lstStyle/>
                    <a:p>
                      <a:pPr>
                        <a:defRPr sz="1000"/>
                      </a:pPr>
                      <a:r>
                        <a:t>EMEA</a:t>
                      </a:r>
                    </a:p>
                  </a:txBody>
                  <a:tcPr/>
                </a:tc>
                <a:tc>
                  <a:txBody>
                    <a:bodyPr/>
                    <a:lstStyle/>
                    <a:p>
                      <a:pPr>
                        <a:defRPr sz="1000"/>
                      </a:pPr>
                      <a:r>
                        <a:t>99%</a:t>
                      </a:r>
                    </a:p>
                  </a:txBody>
                  <a:tcPr/>
                </a:tc>
                <a:tc>
                  <a:txBody>
                    <a:bodyPr/>
                    <a:lstStyle/>
                    <a:p>
                      <a:pPr>
                        <a:defRPr sz="1000"/>
                      </a:pPr>
                      <a:r>
                        <a:t>5 business days</a:t>
                      </a:r>
                    </a:p>
                  </a:txBody>
                  <a:tcPr/>
                </a:tc>
                <a:tc>
                  <a:txBody>
                    <a:bodyPr/>
                    <a:lstStyle/>
                    <a:p>
                      <a:pPr>
                        <a:defRPr sz="1000"/>
                      </a:pPr>
                      <a:r>
                        <a:t>97.9%</a:t>
                      </a:r>
                    </a:p>
                  </a:txBody>
                  <a:tcPr/>
                </a:tc>
              </a:tr>
              <a:tr h="347472">
                <a:tc>
                  <a:txBody>
                    <a:bodyPr/>
                    <a:lstStyle/>
                    <a:p>
                      <a:pPr>
                        <a:defRPr sz="1000"/>
                      </a:pPr>
                      <a:r>
                        <a:t>APAC</a:t>
                      </a:r>
                    </a:p>
                  </a:txBody>
                  <a:tcPr/>
                </a:tc>
                <a:tc>
                  <a:txBody>
                    <a:bodyPr/>
                    <a:lstStyle/>
                    <a:p>
                      <a:pPr>
                        <a:defRPr sz="1000"/>
                      </a:pPr>
                      <a:r>
                        <a:t>98%</a:t>
                      </a:r>
                    </a:p>
                  </a:txBody>
                  <a:tcPr/>
                </a:tc>
                <a:tc>
                  <a:txBody>
                    <a:bodyPr/>
                    <a:lstStyle/>
                    <a:p>
                      <a:pPr>
                        <a:defRPr sz="1000"/>
                      </a:pPr>
                      <a:r>
                        <a:t>7 business days</a:t>
                      </a:r>
                    </a:p>
                  </a:txBody>
                  <a:tcPr/>
                </a:tc>
                <a:tc>
                  <a:txBody>
                    <a:bodyPr/>
                    <a:lstStyle/>
                    <a:p>
                      <a:pPr>
                        <a:defRPr sz="1000"/>
                      </a:pPr>
                      <a:r>
                        <a:t>96.8%</a:t>
                      </a:r>
                    </a:p>
                  </a:txBody>
                  <a:tcPr/>
                </a:tc>
              </a:tr>
              <a:tr h="347472">
                <a:tc>
                  <a:txBody>
                    <a:bodyPr/>
                    <a:lstStyle/>
                    <a:p>
                      <a:pPr>
                        <a:defRPr sz="1000"/>
                      </a:pPr>
                      <a:r>
                        <a:t>Sec-8</a:t>
                      </a:r>
                    </a:p>
                  </a:txBody>
                  <a:tcPr/>
                </a:tc>
                <a:tc>
                  <a:txBody>
                    <a:bodyPr/>
                    <a:lstStyle/>
                    <a:p>
                      <a:pPr>
                        <a:defRPr sz="1000"/>
                      </a:pPr>
                      <a:r>
                        <a:t>99%</a:t>
                      </a:r>
                    </a:p>
                  </a:txBody>
                  <a:tcPr/>
                </a:tc>
                <a:tc>
                  <a:txBody>
                    <a:bodyPr/>
                    <a:lstStyle/>
                    <a:p>
                      <a:pPr>
                        <a:defRPr sz="1000"/>
                      </a:pPr>
                      <a:r>
                        <a:t>5 business days</a:t>
                      </a:r>
                    </a:p>
                  </a:txBody>
                  <a:tcPr/>
                </a:tc>
                <a:tc>
                  <a:txBody>
                    <a:bodyPr/>
                    <a:lstStyle/>
                    <a:p>
                      <a:pPr>
                        <a:defRPr sz="1000"/>
                      </a:pPr>
                      <a:r>
                        <a:t>Stage 8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9. Exception Handling &amp; Escalations - Global Workplace Governance Architec</a:t>
            </a:r>
          </a:p>
        </p:txBody>
      </p:sp>
      <p:sp>
        <p:nvSpPr>
          <p:cNvPr id="3" name="Content Placeholder 2"/>
          <p:cNvSpPr>
            <a:spLocks noGrp="1"/>
          </p:cNvSpPr>
          <p:nvPr>
            <p:ph idx="1"/>
          </p:nvPr>
        </p:nvSpPr>
        <p:spPr/>
        <p:txBody>
          <a:bodyPr/>
          <a:lstStyle/>
          <a:p>
            <a:r>
              <a:t>Multi-slide executive presentation covering global HR policy architecture, regional compliance matrices, escalation paths, and annual audit readiness. Section 9 (Exception Handling &amp; Escalations) applies to HR Policies within HR Knowledge Hub and is maintained by Maria Chen. Outlines severity tiers, response SLAs, and cross-functional escalation paths.</a:t>
            </a:r>
          </a:p>
          <a:p>
            <a:pPr lvl="1"/>
            <a:r>
              <a:t>Standardizes policy governance across North America, EMEA, and APAC hubs.</a:t>
            </a:r>
          </a:p>
          <a:p>
            <a:pPr lvl="1"/>
            <a:r>
              <a:t>Maps statutory compliance controls to quarterly HR Business Partner audit checkpoints.</a:t>
            </a:r>
          </a:p>
          <a:p>
            <a:pPr lvl="1"/>
            <a:r>
              <a:t>Section 9 review cadence is tracked by Maria Chen under HR Policies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Region</a:t>
                      </a:r>
                    </a:p>
                  </a:txBody>
                  <a:tcPr/>
                </a:tc>
                <a:tc>
                  <a:txBody>
                    <a:bodyPr/>
                    <a:lstStyle/>
                    <a:p>
                      <a:pPr>
                        <a:defRPr b="1" sz="1100"/>
                      </a:pPr>
                      <a:r>
                        <a:t>Policy Coverage</a:t>
                      </a:r>
                    </a:p>
                  </a:txBody>
                  <a:tcPr/>
                </a:tc>
                <a:tc>
                  <a:txBody>
                    <a:bodyPr/>
                    <a:lstStyle/>
                    <a:p>
                      <a:pPr>
                        <a:defRPr b="1" sz="1100"/>
                      </a:pPr>
                      <a:r>
                        <a:t>Audit SLA</a:t>
                      </a:r>
                    </a:p>
                  </a:txBody>
                  <a:tcPr/>
                </a:tc>
                <a:tc>
                  <a:txBody>
                    <a:bodyPr/>
                    <a:lstStyle/>
                    <a:p>
                      <a:pPr>
                        <a:defRPr b="1" sz="1100"/>
                      </a:pPr>
                      <a:r>
                        <a:t>Compliance Score</a:t>
                      </a:r>
                    </a:p>
                  </a:txBody>
                  <a:tcPr/>
                </a:tc>
              </a:tr>
              <a:tr h="347472">
                <a:tc>
                  <a:txBody>
                    <a:bodyPr/>
                    <a:lstStyle/>
                    <a:p>
                      <a:pPr>
                        <a:defRPr sz="1000"/>
                      </a:pPr>
                      <a:r>
                        <a:t>North America</a:t>
                      </a:r>
                    </a:p>
                  </a:txBody>
                  <a:tcPr/>
                </a:tc>
                <a:tc>
                  <a:txBody>
                    <a:bodyPr/>
                    <a:lstStyle/>
                    <a:p>
                      <a:pPr>
                        <a:defRPr sz="1000"/>
                      </a:pPr>
                      <a:r>
                        <a:t>100%</a:t>
                      </a:r>
                    </a:p>
                  </a:txBody>
                  <a:tcPr/>
                </a:tc>
                <a:tc>
                  <a:txBody>
                    <a:bodyPr/>
                    <a:lstStyle/>
                    <a:p>
                      <a:pPr>
                        <a:defRPr sz="1000"/>
                      </a:pPr>
                      <a:r>
                        <a:t>5 business days</a:t>
                      </a:r>
                    </a:p>
                  </a:txBody>
                  <a:tcPr/>
                </a:tc>
                <a:tc>
                  <a:txBody>
                    <a:bodyPr/>
                    <a:lstStyle/>
                    <a:p>
                      <a:pPr>
                        <a:defRPr sz="1000"/>
                      </a:pPr>
                      <a:r>
                        <a:t>98.4%</a:t>
                      </a:r>
                    </a:p>
                  </a:txBody>
                  <a:tcPr/>
                </a:tc>
              </a:tr>
              <a:tr h="347472">
                <a:tc>
                  <a:txBody>
                    <a:bodyPr/>
                    <a:lstStyle/>
                    <a:p>
                      <a:pPr>
                        <a:defRPr sz="1000"/>
                      </a:pPr>
                      <a:r>
                        <a:t>EMEA</a:t>
                      </a:r>
                    </a:p>
                  </a:txBody>
                  <a:tcPr/>
                </a:tc>
                <a:tc>
                  <a:txBody>
                    <a:bodyPr/>
                    <a:lstStyle/>
                    <a:p>
                      <a:pPr>
                        <a:defRPr sz="1000"/>
                      </a:pPr>
                      <a:r>
                        <a:t>99%</a:t>
                      </a:r>
                    </a:p>
                  </a:txBody>
                  <a:tcPr/>
                </a:tc>
                <a:tc>
                  <a:txBody>
                    <a:bodyPr/>
                    <a:lstStyle/>
                    <a:p>
                      <a:pPr>
                        <a:defRPr sz="1000"/>
                      </a:pPr>
                      <a:r>
                        <a:t>5 business days</a:t>
                      </a:r>
                    </a:p>
                  </a:txBody>
                  <a:tcPr/>
                </a:tc>
                <a:tc>
                  <a:txBody>
                    <a:bodyPr/>
                    <a:lstStyle/>
                    <a:p>
                      <a:pPr>
                        <a:defRPr sz="1000"/>
                      </a:pPr>
                      <a:r>
                        <a:t>97.9%</a:t>
                      </a:r>
                    </a:p>
                  </a:txBody>
                  <a:tcPr/>
                </a:tc>
              </a:tr>
              <a:tr h="347472">
                <a:tc>
                  <a:txBody>
                    <a:bodyPr/>
                    <a:lstStyle/>
                    <a:p>
                      <a:pPr>
                        <a:defRPr sz="1000"/>
                      </a:pPr>
                      <a:r>
                        <a:t>APAC</a:t>
                      </a:r>
                    </a:p>
                  </a:txBody>
                  <a:tcPr/>
                </a:tc>
                <a:tc>
                  <a:txBody>
                    <a:bodyPr/>
                    <a:lstStyle/>
                    <a:p>
                      <a:pPr>
                        <a:defRPr sz="1000"/>
                      </a:pPr>
                      <a:r>
                        <a:t>98%</a:t>
                      </a:r>
                    </a:p>
                  </a:txBody>
                  <a:tcPr/>
                </a:tc>
                <a:tc>
                  <a:txBody>
                    <a:bodyPr/>
                    <a:lstStyle/>
                    <a:p>
                      <a:pPr>
                        <a:defRPr sz="1000"/>
                      </a:pPr>
                      <a:r>
                        <a:t>7 business days</a:t>
                      </a:r>
                    </a:p>
                  </a:txBody>
                  <a:tcPr/>
                </a:tc>
                <a:tc>
                  <a:txBody>
                    <a:bodyPr/>
                    <a:lstStyle/>
                    <a:p>
                      <a:pPr>
                        <a:defRPr sz="1000"/>
                      </a:pPr>
                      <a:r>
                        <a:t>96.8%</a:t>
                      </a:r>
                    </a:p>
                  </a:txBody>
                  <a:tcPr/>
                </a:tc>
              </a:tr>
              <a:tr h="347472">
                <a:tc>
                  <a:txBody>
                    <a:bodyPr/>
                    <a:lstStyle/>
                    <a:p>
                      <a:pPr>
                        <a:defRPr sz="1000"/>
                      </a:pPr>
                      <a:r>
                        <a:t>Sec-9</a:t>
                      </a:r>
                    </a:p>
                  </a:txBody>
                  <a:tcPr/>
                </a:tc>
                <a:tc>
                  <a:txBody>
                    <a:bodyPr/>
                    <a:lstStyle/>
                    <a:p>
                      <a:pPr>
                        <a:defRPr sz="1000"/>
                      </a:pPr>
                      <a:r>
                        <a:t>98%</a:t>
                      </a:r>
                    </a:p>
                  </a:txBody>
                  <a:tcPr/>
                </a:tc>
                <a:tc>
                  <a:txBody>
                    <a:bodyPr/>
                    <a:lstStyle/>
                    <a:p>
                      <a:pPr>
                        <a:defRPr sz="1000"/>
                      </a:pPr>
                      <a:r>
                        <a:t>7 business days</a:t>
                      </a:r>
                    </a:p>
                  </a:txBody>
                  <a:tcPr/>
                </a:tc>
                <a:tc>
                  <a:txBody>
                    <a:bodyPr/>
                    <a:lstStyle/>
                    <a:p>
                      <a:pPr>
                        <a:defRPr sz="1000"/>
                      </a:pPr>
                      <a:r>
                        <a:t>Stage 9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10. Cross-Functional Dependencies - Global Workplace Governance Architec</a:t>
            </a:r>
          </a:p>
        </p:txBody>
      </p:sp>
      <p:sp>
        <p:nvSpPr>
          <p:cNvPr id="3" name="Content Placeholder 2"/>
          <p:cNvSpPr>
            <a:spLocks noGrp="1"/>
          </p:cNvSpPr>
          <p:nvPr>
            <p:ph idx="1"/>
          </p:nvPr>
        </p:nvSpPr>
        <p:spPr/>
        <p:txBody>
          <a:bodyPr/>
          <a:lstStyle/>
          <a:p>
            <a:r>
              <a:t>Multi-slide executive presentation covering global HR policy architecture, regional compliance matrices, escalation paths, and annual audit readiness. Section 10 (Cross-Functional Dependencies) applies to HR Policies within HR Knowledge Hub and is maintained by Maria Chen. Documents upstream and downstream team dependencies and service-level commitments.</a:t>
            </a:r>
          </a:p>
          <a:p>
            <a:pPr lvl="1"/>
            <a:r>
              <a:t>Maps statutory compliance controls to quarterly HR Business Partner audit checkpoints.</a:t>
            </a:r>
          </a:p>
          <a:p>
            <a:pPr lvl="1"/>
            <a:r>
              <a:t>Integrates incident intake, investigation SLAs, and executive reporting dashboards.</a:t>
            </a:r>
          </a:p>
          <a:p>
            <a:pPr lvl="1"/>
            <a:r>
              <a:t>Section 10 review cadence is tracked by Maria Chen under HR Policies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Region</a:t>
                      </a:r>
                    </a:p>
                  </a:txBody>
                  <a:tcPr/>
                </a:tc>
                <a:tc>
                  <a:txBody>
                    <a:bodyPr/>
                    <a:lstStyle/>
                    <a:p>
                      <a:pPr>
                        <a:defRPr b="1" sz="1100"/>
                      </a:pPr>
                      <a:r>
                        <a:t>Policy Coverage</a:t>
                      </a:r>
                    </a:p>
                  </a:txBody>
                  <a:tcPr/>
                </a:tc>
                <a:tc>
                  <a:txBody>
                    <a:bodyPr/>
                    <a:lstStyle/>
                    <a:p>
                      <a:pPr>
                        <a:defRPr b="1" sz="1100"/>
                      </a:pPr>
                      <a:r>
                        <a:t>Audit SLA</a:t>
                      </a:r>
                    </a:p>
                  </a:txBody>
                  <a:tcPr/>
                </a:tc>
                <a:tc>
                  <a:txBody>
                    <a:bodyPr/>
                    <a:lstStyle/>
                    <a:p>
                      <a:pPr>
                        <a:defRPr b="1" sz="1100"/>
                      </a:pPr>
                      <a:r>
                        <a:t>Compliance Score</a:t>
                      </a:r>
                    </a:p>
                  </a:txBody>
                  <a:tcPr/>
                </a:tc>
              </a:tr>
              <a:tr h="347472">
                <a:tc>
                  <a:txBody>
                    <a:bodyPr/>
                    <a:lstStyle/>
                    <a:p>
                      <a:pPr>
                        <a:defRPr sz="1000"/>
                      </a:pPr>
                      <a:r>
                        <a:t>North America</a:t>
                      </a:r>
                    </a:p>
                  </a:txBody>
                  <a:tcPr/>
                </a:tc>
                <a:tc>
                  <a:txBody>
                    <a:bodyPr/>
                    <a:lstStyle/>
                    <a:p>
                      <a:pPr>
                        <a:defRPr sz="1000"/>
                      </a:pPr>
                      <a:r>
                        <a:t>100%</a:t>
                      </a:r>
                    </a:p>
                  </a:txBody>
                  <a:tcPr/>
                </a:tc>
                <a:tc>
                  <a:txBody>
                    <a:bodyPr/>
                    <a:lstStyle/>
                    <a:p>
                      <a:pPr>
                        <a:defRPr sz="1000"/>
                      </a:pPr>
                      <a:r>
                        <a:t>5 business days</a:t>
                      </a:r>
                    </a:p>
                  </a:txBody>
                  <a:tcPr/>
                </a:tc>
                <a:tc>
                  <a:txBody>
                    <a:bodyPr/>
                    <a:lstStyle/>
                    <a:p>
                      <a:pPr>
                        <a:defRPr sz="1000"/>
                      </a:pPr>
                      <a:r>
                        <a:t>98.4%</a:t>
                      </a:r>
                    </a:p>
                  </a:txBody>
                  <a:tcPr/>
                </a:tc>
              </a:tr>
              <a:tr h="347472">
                <a:tc>
                  <a:txBody>
                    <a:bodyPr/>
                    <a:lstStyle/>
                    <a:p>
                      <a:pPr>
                        <a:defRPr sz="1000"/>
                      </a:pPr>
                      <a:r>
                        <a:t>EMEA</a:t>
                      </a:r>
                    </a:p>
                  </a:txBody>
                  <a:tcPr/>
                </a:tc>
                <a:tc>
                  <a:txBody>
                    <a:bodyPr/>
                    <a:lstStyle/>
                    <a:p>
                      <a:pPr>
                        <a:defRPr sz="1000"/>
                      </a:pPr>
                      <a:r>
                        <a:t>99%</a:t>
                      </a:r>
                    </a:p>
                  </a:txBody>
                  <a:tcPr/>
                </a:tc>
                <a:tc>
                  <a:txBody>
                    <a:bodyPr/>
                    <a:lstStyle/>
                    <a:p>
                      <a:pPr>
                        <a:defRPr sz="1000"/>
                      </a:pPr>
                      <a:r>
                        <a:t>5 business days</a:t>
                      </a:r>
                    </a:p>
                  </a:txBody>
                  <a:tcPr/>
                </a:tc>
                <a:tc>
                  <a:txBody>
                    <a:bodyPr/>
                    <a:lstStyle/>
                    <a:p>
                      <a:pPr>
                        <a:defRPr sz="1000"/>
                      </a:pPr>
                      <a:r>
                        <a:t>97.9%</a:t>
                      </a:r>
                    </a:p>
                  </a:txBody>
                  <a:tcPr/>
                </a:tc>
              </a:tr>
              <a:tr h="347472">
                <a:tc>
                  <a:txBody>
                    <a:bodyPr/>
                    <a:lstStyle/>
                    <a:p>
                      <a:pPr>
                        <a:defRPr sz="1000"/>
                      </a:pPr>
                      <a:r>
                        <a:t>APAC</a:t>
                      </a:r>
                    </a:p>
                  </a:txBody>
                  <a:tcPr/>
                </a:tc>
                <a:tc>
                  <a:txBody>
                    <a:bodyPr/>
                    <a:lstStyle/>
                    <a:p>
                      <a:pPr>
                        <a:defRPr sz="1000"/>
                      </a:pPr>
                      <a:r>
                        <a:t>98%</a:t>
                      </a:r>
                    </a:p>
                  </a:txBody>
                  <a:tcPr/>
                </a:tc>
                <a:tc>
                  <a:txBody>
                    <a:bodyPr/>
                    <a:lstStyle/>
                    <a:p>
                      <a:pPr>
                        <a:defRPr sz="1000"/>
                      </a:pPr>
                      <a:r>
                        <a:t>7 business days</a:t>
                      </a:r>
                    </a:p>
                  </a:txBody>
                  <a:tcPr/>
                </a:tc>
                <a:tc>
                  <a:txBody>
                    <a:bodyPr/>
                    <a:lstStyle/>
                    <a:p>
                      <a:pPr>
                        <a:defRPr sz="1000"/>
                      </a:pPr>
                      <a:r>
                        <a:t>96.8%</a:t>
                      </a:r>
                    </a:p>
                  </a:txBody>
                  <a:tcPr/>
                </a:tc>
              </a:tr>
              <a:tr h="347472">
                <a:tc>
                  <a:txBody>
                    <a:bodyPr/>
                    <a:lstStyle/>
                    <a:p>
                      <a:pPr>
                        <a:defRPr sz="1000"/>
                      </a:pPr>
                      <a:r>
                        <a:t>Sec-10</a:t>
                      </a:r>
                    </a:p>
                  </a:txBody>
                  <a:tcPr/>
                </a:tc>
                <a:tc>
                  <a:txBody>
                    <a:bodyPr/>
                    <a:lstStyle/>
                    <a:p>
                      <a:pPr>
                        <a:defRPr sz="1000"/>
                      </a:pPr>
                      <a:r>
                        <a:t>100%</a:t>
                      </a:r>
                    </a:p>
                  </a:txBody>
                  <a:tcPr/>
                </a:tc>
                <a:tc>
                  <a:txBody>
                    <a:bodyPr/>
                    <a:lstStyle/>
                    <a:p>
                      <a:pPr>
                        <a:defRPr sz="1000"/>
                      </a:pPr>
                      <a:r>
                        <a:t>5 business days</a:t>
                      </a:r>
                    </a:p>
                  </a:txBody>
                  <a:tcPr/>
                </a:tc>
                <a:tc>
                  <a:txBody>
                    <a:bodyPr/>
                    <a:lstStyle/>
                    <a:p>
                      <a:pPr>
                        <a:defRPr sz="1000"/>
                      </a:pPr>
                      <a:r>
                        <a:t>Stage 10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11. Continuous Improvement Roadmap - Global Workplace Governance Architec</a:t>
            </a:r>
          </a:p>
        </p:txBody>
      </p:sp>
      <p:sp>
        <p:nvSpPr>
          <p:cNvPr id="3" name="Content Placeholder 2"/>
          <p:cNvSpPr>
            <a:spLocks noGrp="1"/>
          </p:cNvSpPr>
          <p:nvPr>
            <p:ph idx="1"/>
          </p:nvPr>
        </p:nvSpPr>
        <p:spPr/>
        <p:txBody>
          <a:bodyPr/>
          <a:lstStyle/>
          <a:p>
            <a:r>
              <a:t>Multi-slide executive presentation covering global HR policy architecture, regional compliance matrices, escalation paths, and annual audit readiness. Section 11 (Continuous Improvement Roadmap) applies to HR Policies within HR Knowledge Hub and is maintained by Maria Chen. Schedules quarterly optimization milestones, automation targets, and capability reviews.</a:t>
            </a:r>
          </a:p>
          <a:p>
            <a:pPr lvl="1"/>
            <a:r>
              <a:t>Integrates incident intake, investigation SLAs, and executive reporting dashboards.</a:t>
            </a:r>
          </a:p>
          <a:p>
            <a:pPr lvl="1"/>
            <a:r>
              <a:t>Defines annual policy review cycles and version control requirements.</a:t>
            </a:r>
          </a:p>
          <a:p>
            <a:pPr lvl="1"/>
            <a:r>
              <a:t>Section 11 review cadence is tracked by Maria Chen under HR Policies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Region</a:t>
                      </a:r>
                    </a:p>
                  </a:txBody>
                  <a:tcPr/>
                </a:tc>
                <a:tc>
                  <a:txBody>
                    <a:bodyPr/>
                    <a:lstStyle/>
                    <a:p>
                      <a:pPr>
                        <a:defRPr b="1" sz="1100"/>
                      </a:pPr>
                      <a:r>
                        <a:t>Policy Coverage</a:t>
                      </a:r>
                    </a:p>
                  </a:txBody>
                  <a:tcPr/>
                </a:tc>
                <a:tc>
                  <a:txBody>
                    <a:bodyPr/>
                    <a:lstStyle/>
                    <a:p>
                      <a:pPr>
                        <a:defRPr b="1" sz="1100"/>
                      </a:pPr>
                      <a:r>
                        <a:t>Audit SLA</a:t>
                      </a:r>
                    </a:p>
                  </a:txBody>
                  <a:tcPr/>
                </a:tc>
                <a:tc>
                  <a:txBody>
                    <a:bodyPr/>
                    <a:lstStyle/>
                    <a:p>
                      <a:pPr>
                        <a:defRPr b="1" sz="1100"/>
                      </a:pPr>
                      <a:r>
                        <a:t>Compliance Score</a:t>
                      </a:r>
                    </a:p>
                  </a:txBody>
                  <a:tcPr/>
                </a:tc>
              </a:tr>
              <a:tr h="347472">
                <a:tc>
                  <a:txBody>
                    <a:bodyPr/>
                    <a:lstStyle/>
                    <a:p>
                      <a:pPr>
                        <a:defRPr sz="1000"/>
                      </a:pPr>
                      <a:r>
                        <a:t>North America</a:t>
                      </a:r>
                    </a:p>
                  </a:txBody>
                  <a:tcPr/>
                </a:tc>
                <a:tc>
                  <a:txBody>
                    <a:bodyPr/>
                    <a:lstStyle/>
                    <a:p>
                      <a:pPr>
                        <a:defRPr sz="1000"/>
                      </a:pPr>
                      <a:r>
                        <a:t>100%</a:t>
                      </a:r>
                    </a:p>
                  </a:txBody>
                  <a:tcPr/>
                </a:tc>
                <a:tc>
                  <a:txBody>
                    <a:bodyPr/>
                    <a:lstStyle/>
                    <a:p>
                      <a:pPr>
                        <a:defRPr sz="1000"/>
                      </a:pPr>
                      <a:r>
                        <a:t>5 business days</a:t>
                      </a:r>
                    </a:p>
                  </a:txBody>
                  <a:tcPr/>
                </a:tc>
                <a:tc>
                  <a:txBody>
                    <a:bodyPr/>
                    <a:lstStyle/>
                    <a:p>
                      <a:pPr>
                        <a:defRPr sz="1000"/>
                      </a:pPr>
                      <a:r>
                        <a:t>98.4%</a:t>
                      </a:r>
                    </a:p>
                  </a:txBody>
                  <a:tcPr/>
                </a:tc>
              </a:tr>
              <a:tr h="347472">
                <a:tc>
                  <a:txBody>
                    <a:bodyPr/>
                    <a:lstStyle/>
                    <a:p>
                      <a:pPr>
                        <a:defRPr sz="1000"/>
                      </a:pPr>
                      <a:r>
                        <a:t>EMEA</a:t>
                      </a:r>
                    </a:p>
                  </a:txBody>
                  <a:tcPr/>
                </a:tc>
                <a:tc>
                  <a:txBody>
                    <a:bodyPr/>
                    <a:lstStyle/>
                    <a:p>
                      <a:pPr>
                        <a:defRPr sz="1000"/>
                      </a:pPr>
                      <a:r>
                        <a:t>99%</a:t>
                      </a:r>
                    </a:p>
                  </a:txBody>
                  <a:tcPr/>
                </a:tc>
                <a:tc>
                  <a:txBody>
                    <a:bodyPr/>
                    <a:lstStyle/>
                    <a:p>
                      <a:pPr>
                        <a:defRPr sz="1000"/>
                      </a:pPr>
                      <a:r>
                        <a:t>5 business days</a:t>
                      </a:r>
                    </a:p>
                  </a:txBody>
                  <a:tcPr/>
                </a:tc>
                <a:tc>
                  <a:txBody>
                    <a:bodyPr/>
                    <a:lstStyle/>
                    <a:p>
                      <a:pPr>
                        <a:defRPr sz="1000"/>
                      </a:pPr>
                      <a:r>
                        <a:t>97.9%</a:t>
                      </a:r>
                    </a:p>
                  </a:txBody>
                  <a:tcPr/>
                </a:tc>
              </a:tr>
              <a:tr h="347472">
                <a:tc>
                  <a:txBody>
                    <a:bodyPr/>
                    <a:lstStyle/>
                    <a:p>
                      <a:pPr>
                        <a:defRPr sz="1000"/>
                      </a:pPr>
                      <a:r>
                        <a:t>APAC</a:t>
                      </a:r>
                    </a:p>
                  </a:txBody>
                  <a:tcPr/>
                </a:tc>
                <a:tc>
                  <a:txBody>
                    <a:bodyPr/>
                    <a:lstStyle/>
                    <a:p>
                      <a:pPr>
                        <a:defRPr sz="1000"/>
                      </a:pPr>
                      <a:r>
                        <a:t>98%</a:t>
                      </a:r>
                    </a:p>
                  </a:txBody>
                  <a:tcPr/>
                </a:tc>
                <a:tc>
                  <a:txBody>
                    <a:bodyPr/>
                    <a:lstStyle/>
                    <a:p>
                      <a:pPr>
                        <a:defRPr sz="1000"/>
                      </a:pPr>
                      <a:r>
                        <a:t>7 business days</a:t>
                      </a:r>
                    </a:p>
                  </a:txBody>
                  <a:tcPr/>
                </a:tc>
                <a:tc>
                  <a:txBody>
                    <a:bodyPr/>
                    <a:lstStyle/>
                    <a:p>
                      <a:pPr>
                        <a:defRPr sz="1000"/>
                      </a:pPr>
                      <a:r>
                        <a:t>96.8%</a:t>
                      </a:r>
                    </a:p>
                  </a:txBody>
                  <a:tcPr/>
                </a:tc>
              </a:tr>
              <a:tr h="347472">
                <a:tc>
                  <a:txBody>
                    <a:bodyPr/>
                    <a:lstStyle/>
                    <a:p>
                      <a:pPr>
                        <a:defRPr sz="1000"/>
                      </a:pPr>
                      <a:r>
                        <a:t>Sec-11</a:t>
                      </a:r>
                    </a:p>
                  </a:txBody>
                  <a:tcPr/>
                </a:tc>
                <a:tc>
                  <a:txBody>
                    <a:bodyPr/>
                    <a:lstStyle/>
                    <a:p>
                      <a:pPr>
                        <a:defRPr sz="1000"/>
                      </a:pPr>
                      <a:r>
                        <a:t>99%</a:t>
                      </a:r>
                    </a:p>
                  </a:txBody>
                  <a:tcPr/>
                </a:tc>
                <a:tc>
                  <a:txBody>
                    <a:bodyPr/>
                    <a:lstStyle/>
                    <a:p>
                      <a:pPr>
                        <a:defRPr sz="1000"/>
                      </a:pPr>
                      <a:r>
                        <a:t>5 business days</a:t>
                      </a:r>
                    </a:p>
                  </a:txBody>
                  <a:tcPr/>
                </a:tc>
                <a:tc>
                  <a:txBody>
                    <a:bodyPr/>
                    <a:lstStyle/>
                    <a:p>
                      <a:pPr>
                        <a:defRPr sz="1000"/>
                      </a:pPr>
                      <a:r>
                        <a:t>Stage 11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12. Appendix, Lineage &amp; Sign-off - Global Workplace Governance Architec</a:t>
            </a:r>
          </a:p>
        </p:txBody>
      </p:sp>
      <p:sp>
        <p:nvSpPr>
          <p:cNvPr id="3" name="Content Placeholder 2"/>
          <p:cNvSpPr>
            <a:spLocks noGrp="1"/>
          </p:cNvSpPr>
          <p:nvPr>
            <p:ph idx="1"/>
          </p:nvPr>
        </p:nvSpPr>
        <p:spPr/>
        <p:txBody>
          <a:bodyPr/>
          <a:lstStyle/>
          <a:p>
            <a:r>
              <a:t>Multi-slide executive presentation covering global HR policy architecture, regional compliance matrices, escalation paths, and annual audit readiness. Section 12 (Appendix, Lineage &amp; Sign-off) applies to HR Policies within HR Knowledge Hub and is maintained by Maria Chen. Records document lineage, governance metadata, version history, and owner sign-off.</a:t>
            </a:r>
          </a:p>
          <a:p>
            <a:pPr lvl="1"/>
            <a:r>
              <a:t>Defines annual policy review cycles and version control requirements.</a:t>
            </a:r>
          </a:p>
          <a:p>
            <a:pPr lvl="1"/>
            <a:r>
              <a:t>Standardizes policy governance across North America, EMEA, and APAC hubs.</a:t>
            </a:r>
          </a:p>
          <a:p>
            <a:pPr lvl="1"/>
            <a:r>
              <a:t>Section 12 review cadence is tracked by Maria Chen under HR Policies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Region</a:t>
                      </a:r>
                    </a:p>
                  </a:txBody>
                  <a:tcPr/>
                </a:tc>
                <a:tc>
                  <a:txBody>
                    <a:bodyPr/>
                    <a:lstStyle/>
                    <a:p>
                      <a:pPr>
                        <a:defRPr b="1" sz="1100"/>
                      </a:pPr>
                      <a:r>
                        <a:t>Policy Coverage</a:t>
                      </a:r>
                    </a:p>
                  </a:txBody>
                  <a:tcPr/>
                </a:tc>
                <a:tc>
                  <a:txBody>
                    <a:bodyPr/>
                    <a:lstStyle/>
                    <a:p>
                      <a:pPr>
                        <a:defRPr b="1" sz="1100"/>
                      </a:pPr>
                      <a:r>
                        <a:t>Audit SLA</a:t>
                      </a:r>
                    </a:p>
                  </a:txBody>
                  <a:tcPr/>
                </a:tc>
                <a:tc>
                  <a:txBody>
                    <a:bodyPr/>
                    <a:lstStyle/>
                    <a:p>
                      <a:pPr>
                        <a:defRPr b="1" sz="1100"/>
                      </a:pPr>
                      <a:r>
                        <a:t>Compliance Score</a:t>
                      </a:r>
                    </a:p>
                  </a:txBody>
                  <a:tcPr/>
                </a:tc>
              </a:tr>
              <a:tr h="347472">
                <a:tc>
                  <a:txBody>
                    <a:bodyPr/>
                    <a:lstStyle/>
                    <a:p>
                      <a:pPr>
                        <a:defRPr sz="1000"/>
                      </a:pPr>
                      <a:r>
                        <a:t>North America</a:t>
                      </a:r>
                    </a:p>
                  </a:txBody>
                  <a:tcPr/>
                </a:tc>
                <a:tc>
                  <a:txBody>
                    <a:bodyPr/>
                    <a:lstStyle/>
                    <a:p>
                      <a:pPr>
                        <a:defRPr sz="1000"/>
                      </a:pPr>
                      <a:r>
                        <a:t>100%</a:t>
                      </a:r>
                    </a:p>
                  </a:txBody>
                  <a:tcPr/>
                </a:tc>
                <a:tc>
                  <a:txBody>
                    <a:bodyPr/>
                    <a:lstStyle/>
                    <a:p>
                      <a:pPr>
                        <a:defRPr sz="1000"/>
                      </a:pPr>
                      <a:r>
                        <a:t>5 business days</a:t>
                      </a:r>
                    </a:p>
                  </a:txBody>
                  <a:tcPr/>
                </a:tc>
                <a:tc>
                  <a:txBody>
                    <a:bodyPr/>
                    <a:lstStyle/>
                    <a:p>
                      <a:pPr>
                        <a:defRPr sz="1000"/>
                      </a:pPr>
                      <a:r>
                        <a:t>98.4%</a:t>
                      </a:r>
                    </a:p>
                  </a:txBody>
                  <a:tcPr/>
                </a:tc>
              </a:tr>
              <a:tr h="347472">
                <a:tc>
                  <a:txBody>
                    <a:bodyPr/>
                    <a:lstStyle/>
                    <a:p>
                      <a:pPr>
                        <a:defRPr sz="1000"/>
                      </a:pPr>
                      <a:r>
                        <a:t>EMEA</a:t>
                      </a:r>
                    </a:p>
                  </a:txBody>
                  <a:tcPr/>
                </a:tc>
                <a:tc>
                  <a:txBody>
                    <a:bodyPr/>
                    <a:lstStyle/>
                    <a:p>
                      <a:pPr>
                        <a:defRPr sz="1000"/>
                      </a:pPr>
                      <a:r>
                        <a:t>99%</a:t>
                      </a:r>
                    </a:p>
                  </a:txBody>
                  <a:tcPr/>
                </a:tc>
                <a:tc>
                  <a:txBody>
                    <a:bodyPr/>
                    <a:lstStyle/>
                    <a:p>
                      <a:pPr>
                        <a:defRPr sz="1000"/>
                      </a:pPr>
                      <a:r>
                        <a:t>5 business days</a:t>
                      </a:r>
                    </a:p>
                  </a:txBody>
                  <a:tcPr/>
                </a:tc>
                <a:tc>
                  <a:txBody>
                    <a:bodyPr/>
                    <a:lstStyle/>
                    <a:p>
                      <a:pPr>
                        <a:defRPr sz="1000"/>
                      </a:pPr>
                      <a:r>
                        <a:t>97.9%</a:t>
                      </a:r>
                    </a:p>
                  </a:txBody>
                  <a:tcPr/>
                </a:tc>
              </a:tr>
              <a:tr h="347472">
                <a:tc>
                  <a:txBody>
                    <a:bodyPr/>
                    <a:lstStyle/>
                    <a:p>
                      <a:pPr>
                        <a:defRPr sz="1000"/>
                      </a:pPr>
                      <a:r>
                        <a:t>APAC</a:t>
                      </a:r>
                    </a:p>
                  </a:txBody>
                  <a:tcPr/>
                </a:tc>
                <a:tc>
                  <a:txBody>
                    <a:bodyPr/>
                    <a:lstStyle/>
                    <a:p>
                      <a:pPr>
                        <a:defRPr sz="1000"/>
                      </a:pPr>
                      <a:r>
                        <a:t>98%</a:t>
                      </a:r>
                    </a:p>
                  </a:txBody>
                  <a:tcPr/>
                </a:tc>
                <a:tc>
                  <a:txBody>
                    <a:bodyPr/>
                    <a:lstStyle/>
                    <a:p>
                      <a:pPr>
                        <a:defRPr sz="1000"/>
                      </a:pPr>
                      <a:r>
                        <a:t>7 business days</a:t>
                      </a:r>
                    </a:p>
                  </a:txBody>
                  <a:tcPr/>
                </a:tc>
                <a:tc>
                  <a:txBody>
                    <a:bodyPr/>
                    <a:lstStyle/>
                    <a:p>
                      <a:pPr>
                        <a:defRPr sz="1000"/>
                      </a:pPr>
                      <a:r>
                        <a:t>96.8%</a:t>
                      </a:r>
                    </a:p>
                  </a:txBody>
                  <a:tcPr/>
                </a:tc>
              </a:tr>
              <a:tr h="347472">
                <a:tc>
                  <a:txBody>
                    <a:bodyPr/>
                    <a:lstStyle/>
                    <a:p>
                      <a:pPr>
                        <a:defRPr sz="1000"/>
                      </a:pPr>
                      <a:r>
                        <a:t>Sec-12</a:t>
                      </a:r>
                    </a:p>
                  </a:txBody>
                  <a:tcPr/>
                </a:tc>
                <a:tc>
                  <a:txBody>
                    <a:bodyPr/>
                    <a:lstStyle/>
                    <a:p>
                      <a:pPr>
                        <a:defRPr sz="1000"/>
                      </a:pPr>
                      <a:r>
                        <a:t>98%</a:t>
                      </a:r>
                    </a:p>
                  </a:txBody>
                  <a:tcPr/>
                </a:tc>
                <a:tc>
                  <a:txBody>
                    <a:bodyPr/>
                    <a:lstStyle/>
                    <a:p>
                      <a:pPr>
                        <a:defRPr sz="1000"/>
                      </a:pPr>
                      <a:r>
                        <a:t>7 business days</a:t>
                      </a:r>
                    </a:p>
                  </a:txBody>
                  <a:tcPr/>
                </a:tc>
                <a:tc>
                  <a:txBody>
                    <a:bodyPr/>
                    <a:lstStyle/>
                    <a:p>
                      <a:pPr>
                        <a:defRPr sz="1000"/>
                      </a:pPr>
                      <a:r>
                        <a:t>Stage 12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