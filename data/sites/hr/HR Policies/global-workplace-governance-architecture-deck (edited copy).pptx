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Executive Summary &amp; Scope - Global Workplace Governance Architec</a:t>
            </a:r>
          </a:p>
        </p:txBody>
      </p:sp>
      <p:sp>
        <p:nvSpPr>
          <p:cNvPr id="3" name="Content Placeholder 2"/>
          <p:cNvSpPr>
            <a:spLocks noGrp="1"/>
          </p:cNvSpPr>
          <p:nvPr>
            <p:ph idx="1"/>
          </p:nvPr>
        </p:nvSpPr>
        <p:spPr/>
        <p:txBody>
          <a:bodyPr/>
          <a:lstStyle/>
          <a:p>
            <a:r>
              <a:t>Multi-slide executive presentation covering global HR policy architecture, regional compliance matrices, escalation paths, and annual audit readiness. Section 1 (Executive Summary &amp; Scope) applies to HR Policies within HR Knowledge Hub and is maintained by Maria Chen. Defines the operational charter, scope boundaries, and executive accountability.</a:t>
            </a:r>
          </a:p>
          <a:p>
            <a:pPr lvl="1"/>
            <a:r>
              <a:t>Standardizes policy governance across North America, EMEA, and APAC hubs.</a:t>
            </a:r>
          </a:p>
          <a:p>
            <a:pPr lvl="1"/>
            <a:r>
              <a:t>Maps statutory compliance controls to quarterly HR Business Partner audit checkpoints.</a:t>
            </a:r>
          </a:p>
          <a:p>
            <a:pPr lvl="1"/>
            <a:r>
              <a:t>Section 1 review cadence is tracked by Maria Chen under HR Policies governance.</a:t>
            </a:r>
          </a:p>
        </p:txBody>
      </p:sp>
      <p:graphicFrame>
        <p:nvGraphicFramePr>
          <p:cNvPr id="4" name="Table 3"/>
          <p:cNvGraphicFramePr>
            <a:graphicFrameLocks noGrp="1"/>
          </p:cNvGraphicFramePr>
          <p:nvPr/>
        </p:nvGraphicFramePr>
        <p:xfrm>
          <a:off x="548640" y="3749039"/>
          <a:ext cx="5669280" cy="1389888"/>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Architecture &amp; Process Flow - Global Workplace Governance Architec</a:t>
            </a:r>
          </a:p>
        </p:txBody>
      </p:sp>
      <p:sp>
        <p:nvSpPr>
          <p:cNvPr id="3" name="Content Placeholder 2"/>
          <p:cNvSpPr>
            <a:spLocks noGrp="1"/>
          </p:cNvSpPr>
          <p:nvPr>
            <p:ph idx="1"/>
          </p:nvPr>
        </p:nvSpPr>
        <p:spPr/>
        <p:txBody>
          <a:bodyPr/>
          <a:lstStyle/>
          <a:p>
            <a:r>
              <a:t>Multi-slide executive presentation covering global HR policy architecture, regional compliance matrices, escalation paths, and annual audit readiness. Section 2 (Architecture &amp; Process Flow) applies to HR Policies within HR Knowledge Hub and is maintained by Maria Chen. Maps end-to-end process stages, handoff gates, and system-of-record integrations.</a:t>
            </a:r>
          </a:p>
          <a:p>
            <a:pPr lvl="1"/>
            <a:r>
              <a:t>Maps statutory compliance controls to quarterly HR Business Partner audit checkpoints.</a:t>
            </a:r>
          </a:p>
          <a:p>
            <a:pPr lvl="1"/>
            <a:r>
              <a:t>Integrates incident intake, investigation SLAs, and executive reporting dashboards.</a:t>
            </a:r>
          </a:p>
          <a:p>
            <a:pPr lvl="1"/>
            <a:r>
              <a:t>Section 2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Sec-2</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Stage 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Governance Standards &amp; Controls - Global Workplace Governance Architec</a:t>
            </a:r>
          </a:p>
        </p:txBody>
      </p:sp>
      <p:sp>
        <p:nvSpPr>
          <p:cNvPr id="3" name="Content Placeholder 2"/>
          <p:cNvSpPr>
            <a:spLocks noGrp="1"/>
          </p:cNvSpPr>
          <p:nvPr>
            <p:ph idx="1"/>
          </p:nvPr>
        </p:nvSpPr>
        <p:spPr/>
        <p:txBody>
          <a:bodyPr/>
          <a:lstStyle/>
          <a:p>
            <a:r>
              <a:t>Multi-slide executive presentation covering global HR policy architecture, regional compliance matrices, escalation paths, and annual audit readiness. Section 3 (Governance Standards &amp; Controls) applies to HR Policies within HR Knowledge Hub and is maintained by Maria Chen. Establishes mandatory compliance controls, approval thresholds, and audit evidence.</a:t>
            </a:r>
          </a:p>
          <a:p>
            <a:pPr lvl="1"/>
            <a:r>
              <a:t>Integrates incident intake, investigation SLAs, and executive reporting dashboards.</a:t>
            </a:r>
          </a:p>
          <a:p>
            <a:pPr lvl="1"/>
            <a:r>
              <a:t>Defines annual policy review cycles and version control requirements.</a:t>
            </a:r>
          </a:p>
          <a:p>
            <a:pPr lvl="1"/>
            <a:r>
              <a:t>Section 3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Sec-3</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Stage 3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Operational KPIs &amp; Benchmarks - Global Workplace Governance Architec</a:t>
            </a:r>
          </a:p>
        </p:txBody>
      </p:sp>
      <p:sp>
        <p:nvSpPr>
          <p:cNvPr id="3" name="Content Placeholder 2"/>
          <p:cNvSpPr>
            <a:spLocks noGrp="1"/>
          </p:cNvSpPr>
          <p:nvPr>
            <p:ph idx="1"/>
          </p:nvPr>
        </p:nvSpPr>
        <p:spPr/>
        <p:txBody>
          <a:bodyPr/>
          <a:lstStyle/>
          <a:p>
            <a:r>
              <a:t>Multi-slide executive presentation covering global HR policy architecture, regional compliance matrices, escalation paths, and annual audit readiness. Section 4 (Operational KPIs &amp; Benchmarks) applies to HR Policies within HR Knowledge Hub and is maintained by Maria Chen. Tracks baseline performance, target SLAs, and quarterly benchmark progression.</a:t>
            </a:r>
          </a:p>
          <a:p>
            <a:pPr lvl="1"/>
            <a:r>
              <a:t>Defines annual policy review cycles and version control requirements.</a:t>
            </a:r>
          </a:p>
          <a:p>
            <a:pPr lvl="1"/>
            <a:r>
              <a:t>Standardizes policy governance across North America, EMEA, and APAC hubs.</a:t>
            </a:r>
          </a:p>
          <a:p>
            <a:pPr lvl="1"/>
            <a:r>
              <a:t>Section 4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Sec-4</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Stage 4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Roles, Responsibilities &amp; RACI - Global Workplace Governance Architec</a:t>
            </a:r>
          </a:p>
        </p:txBody>
      </p:sp>
      <p:sp>
        <p:nvSpPr>
          <p:cNvPr id="3" name="Content Placeholder 2"/>
          <p:cNvSpPr>
            <a:spLocks noGrp="1"/>
          </p:cNvSpPr>
          <p:nvPr>
            <p:ph idx="1"/>
          </p:nvPr>
        </p:nvSpPr>
        <p:spPr/>
        <p:txBody>
          <a:bodyPr/>
          <a:lstStyle/>
          <a:p>
            <a:r>
              <a:t>Multi-slide executive presentation covering global HR policy architecture, regional compliance matrices, escalation paths, and annual audit readiness. Section 5 (Roles, Responsibilities &amp; RACI) applies to HR Policies within HR Knowledge Hub and is maintained by Maria Chen. Clarifies ownership across accountable executives, operational leads, and reviewers.</a:t>
            </a:r>
          </a:p>
          <a:p>
            <a:pPr lvl="1"/>
            <a:r>
              <a:t>Standardizes policy governance across North America, EMEA, and APAC hubs.</a:t>
            </a:r>
          </a:p>
          <a:p>
            <a:pPr lvl="1"/>
            <a:r>
              <a:t>Maps statutory compliance controls to quarterly HR Business Partner audit checkpoints.</a:t>
            </a:r>
          </a:p>
          <a:p>
            <a:pPr lvl="1"/>
            <a:r>
              <a:t>Section 5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Sec-5</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Stage 5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Standard Operating Procedures - Global Workplace Governance Architec</a:t>
            </a:r>
          </a:p>
        </p:txBody>
      </p:sp>
      <p:sp>
        <p:nvSpPr>
          <p:cNvPr id="3" name="Content Placeholder 2"/>
          <p:cNvSpPr>
            <a:spLocks noGrp="1"/>
          </p:cNvSpPr>
          <p:nvPr>
            <p:ph idx="1"/>
          </p:nvPr>
        </p:nvSpPr>
        <p:spPr/>
        <p:txBody>
          <a:bodyPr/>
          <a:lstStyle/>
          <a:p>
            <a:r>
              <a:t>Multi-slide executive presentation covering global HR policy architecture, regional compliance matrices, escalation paths, and annual audit readiness. Section 6 (Standard Operating Procedures) applies to HR Policies within HR Knowledge Hub and is maintained by Maria Chen. Provides step-by-step execution checklists, intake criteria, and verification gates.</a:t>
            </a:r>
          </a:p>
          <a:p>
            <a:pPr lvl="1"/>
            <a:r>
              <a:t>Maps statutory compliance controls to quarterly HR Business Partner audit checkpoints.</a:t>
            </a:r>
          </a:p>
          <a:p>
            <a:pPr lvl="1"/>
            <a:r>
              <a:t>Integrates incident intake, investigation SLAs, and executive reporting dashboards.</a:t>
            </a:r>
          </a:p>
          <a:p>
            <a:pPr lvl="1"/>
            <a:r>
              <a:t>Section 6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Sec-6</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Stage 6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Risk Register &amp; Mitigations - Global Workplace Governance Architec</a:t>
            </a:r>
          </a:p>
        </p:txBody>
      </p:sp>
      <p:sp>
        <p:nvSpPr>
          <p:cNvPr id="3" name="Content Placeholder 2"/>
          <p:cNvSpPr>
            <a:spLocks noGrp="1"/>
          </p:cNvSpPr>
          <p:nvPr>
            <p:ph idx="1"/>
          </p:nvPr>
        </p:nvSpPr>
        <p:spPr/>
        <p:txBody>
          <a:bodyPr/>
          <a:lstStyle/>
          <a:p>
            <a:r>
              <a:t>Multi-slide executive presentation covering global HR policy architecture, regional compliance matrices, escalation paths, and annual audit readiness. Section 7 (Risk Register &amp; Mitigations) applies to HR Policies within HR Knowledge Hub and is maintained by Maria Chen. Catalogs operational, compliance, and delivery risks alongside preventive mitigations.</a:t>
            </a:r>
          </a:p>
          <a:p>
            <a:pPr lvl="1"/>
            <a:r>
              <a:t>Integrates incident intake, investigation SLAs, and executive reporting dashboards.</a:t>
            </a:r>
          </a:p>
          <a:p>
            <a:pPr lvl="1"/>
            <a:r>
              <a:t>Defines annual policy review cycles and version control requirements.</a:t>
            </a:r>
          </a:p>
          <a:p>
            <a:pPr lvl="1"/>
            <a:r>
              <a:t>Section 7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Sec-7</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Stage 7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Quality Assurance &amp; Audits - Global Workplace Governance Architec</a:t>
            </a:r>
          </a:p>
        </p:txBody>
      </p:sp>
      <p:sp>
        <p:nvSpPr>
          <p:cNvPr id="3" name="Content Placeholder 2"/>
          <p:cNvSpPr>
            <a:spLocks noGrp="1"/>
          </p:cNvSpPr>
          <p:nvPr>
            <p:ph idx="1"/>
          </p:nvPr>
        </p:nvSpPr>
        <p:spPr/>
        <p:txBody>
          <a:bodyPr/>
          <a:lstStyle/>
          <a:p>
            <a:r>
              <a:t>Multi-slide executive presentation covering global HR policy architecture, regional compliance matrices, escalation paths, and annual audit readiness. Section 8 (Quality Assurance &amp; Audits) applies to HR Policies within HR Knowledge Hub and is maintained by Maria Chen. Specifies sampling frequencies, inspection tolerances, and nonconformance workflows.</a:t>
            </a:r>
          </a:p>
          <a:p>
            <a:pPr lvl="1"/>
            <a:r>
              <a:t>Defines annual policy review cycles and version control requirements.</a:t>
            </a:r>
          </a:p>
          <a:p>
            <a:pPr lvl="1"/>
            <a:r>
              <a:t>Standardizes policy governance across North America, EMEA, and APAC hubs.</a:t>
            </a:r>
          </a:p>
          <a:p>
            <a:pPr lvl="1"/>
            <a:r>
              <a:t>Section 8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Sec-8</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Stage 8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Exception Handling &amp; Escalations - Global Workplace Governance Architec</a:t>
            </a:r>
          </a:p>
        </p:txBody>
      </p:sp>
      <p:sp>
        <p:nvSpPr>
          <p:cNvPr id="3" name="Content Placeholder 2"/>
          <p:cNvSpPr>
            <a:spLocks noGrp="1"/>
          </p:cNvSpPr>
          <p:nvPr>
            <p:ph idx="1"/>
          </p:nvPr>
        </p:nvSpPr>
        <p:spPr/>
        <p:txBody>
          <a:bodyPr/>
          <a:lstStyle/>
          <a:p>
            <a:r>
              <a:t>Multi-slide executive presentation covering global HR policy architecture, regional compliance matrices, escalation paths, and annual audit readiness. Section 9 (Exception Handling &amp; Escalations) applies to HR Policies within HR Knowledge Hub and is maintained by Maria Chen. Outlines severity tiers, response SLAs, and cross-functional escalation paths.</a:t>
            </a:r>
          </a:p>
          <a:p>
            <a:pPr lvl="1"/>
            <a:r>
              <a:t>Standardizes policy governance across North America, EMEA, and APAC hubs.</a:t>
            </a:r>
          </a:p>
          <a:p>
            <a:pPr lvl="1"/>
            <a:r>
              <a:t>Maps statutory compliance controls to quarterly HR Business Partner audit checkpoints.</a:t>
            </a:r>
          </a:p>
          <a:p>
            <a:pPr lvl="1"/>
            <a:r>
              <a:t>Section 9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Sec-9</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Stage 9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Cross-Functional Dependencies - Global Workplace Governance Architec</a:t>
            </a:r>
          </a:p>
        </p:txBody>
      </p:sp>
      <p:sp>
        <p:nvSpPr>
          <p:cNvPr id="3" name="Content Placeholder 2"/>
          <p:cNvSpPr>
            <a:spLocks noGrp="1"/>
          </p:cNvSpPr>
          <p:nvPr>
            <p:ph idx="1"/>
          </p:nvPr>
        </p:nvSpPr>
        <p:spPr/>
        <p:txBody>
          <a:bodyPr/>
          <a:lstStyle/>
          <a:p>
            <a:r>
              <a:t>Multi-slide executive presentation covering global HR policy architecture, regional compliance matrices, escalation paths, and annual audit readiness. Section 10 (Cross-Functional Dependencies) applies to HR Policies within HR Knowledge Hub and is maintained by Maria Chen. Documents upstream and downstream team dependencies and service-level commitments.</a:t>
            </a:r>
          </a:p>
          <a:p>
            <a:pPr lvl="1"/>
            <a:r>
              <a:t>Maps statutory compliance controls to quarterly HR Business Partner audit checkpoints.</a:t>
            </a:r>
          </a:p>
          <a:p>
            <a:pPr lvl="1"/>
            <a:r>
              <a:t>Integrates incident intake, investigation SLAs, and executive reporting dashboards.</a:t>
            </a:r>
          </a:p>
          <a:p>
            <a:pPr lvl="1"/>
            <a:r>
              <a:t>Section 10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Sec-10</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Stage 10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Continuous Improvement Roadmap - Global Workplace Governance Architec</a:t>
            </a:r>
          </a:p>
        </p:txBody>
      </p:sp>
      <p:sp>
        <p:nvSpPr>
          <p:cNvPr id="3" name="Content Placeholder 2"/>
          <p:cNvSpPr>
            <a:spLocks noGrp="1"/>
          </p:cNvSpPr>
          <p:nvPr>
            <p:ph idx="1"/>
          </p:nvPr>
        </p:nvSpPr>
        <p:spPr/>
        <p:txBody>
          <a:bodyPr/>
          <a:lstStyle/>
          <a:p>
            <a:r>
              <a:t>Multi-slide executive presentation covering global HR policy architecture, regional compliance matrices, escalation paths, and annual audit readiness. Section 11 (Continuous Improvement Roadmap) applies to HR Policies within HR Knowledge Hub and is maintained by Maria Chen. Schedules quarterly optimization milestones, automation targets, and capability reviews.</a:t>
            </a:r>
          </a:p>
          <a:p>
            <a:pPr lvl="1"/>
            <a:r>
              <a:t>Integrates incident intake, investigation SLAs, and executive reporting dashboards.</a:t>
            </a:r>
          </a:p>
          <a:p>
            <a:pPr lvl="1"/>
            <a:r>
              <a:t>Defines annual policy review cycles and version control requirements.</a:t>
            </a:r>
          </a:p>
          <a:p>
            <a:pPr lvl="1"/>
            <a:r>
              <a:t>Section 11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Sec-11</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Stage 11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Training &amp; Change Management - Global Workplace Governance Architec</a:t>
            </a:r>
          </a:p>
        </p:txBody>
      </p:sp>
      <p:sp>
        <p:nvSpPr>
          <p:cNvPr id="3" name="Content Placeholder 2"/>
          <p:cNvSpPr>
            <a:spLocks noGrp="1"/>
          </p:cNvSpPr>
          <p:nvPr>
            <p:ph idx="1"/>
          </p:nvPr>
        </p:nvSpPr>
        <p:spPr/>
        <p:txBody>
          <a:bodyPr/>
          <a:lstStyle/>
          <a:p>
            <a:r>
              <a:t>Multi-slide executive presentation covering global HR policy architecture, regional compliance matrices, escalation paths, and annual audit readiness. Section 12 (Training &amp; Change Management) applies to HR Policies within HR Knowledge Hub and is maintained by Maria Chen. Plans enablement sessions, communications, and adoption checkpoints for affected teams.</a:t>
            </a:r>
          </a:p>
          <a:p>
            <a:pPr lvl="1"/>
            <a:r>
              <a:t>Defines annual policy review cycles and version control requirements.</a:t>
            </a:r>
          </a:p>
          <a:p>
            <a:pPr lvl="1"/>
            <a:r>
              <a:t>Standardizes policy governance across North America, EMEA, and APAC hubs.</a:t>
            </a:r>
          </a:p>
          <a:p>
            <a:pPr lvl="1"/>
            <a:r>
              <a:t>Section 12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Sec-12</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Stage 12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Technology &amp; Tooling Landscape - Global Workplace Governance Architec</a:t>
            </a:r>
          </a:p>
        </p:txBody>
      </p:sp>
      <p:sp>
        <p:nvSpPr>
          <p:cNvPr id="3" name="Content Placeholder 2"/>
          <p:cNvSpPr>
            <a:spLocks noGrp="1"/>
          </p:cNvSpPr>
          <p:nvPr>
            <p:ph idx="1"/>
          </p:nvPr>
        </p:nvSpPr>
        <p:spPr/>
        <p:txBody>
          <a:bodyPr/>
          <a:lstStyle/>
          <a:p>
            <a:r>
              <a:t>Multi-slide executive presentation covering global HR policy architecture, regional compliance matrices, escalation paths, and annual audit readiness. Section 13 (Technology &amp; Tooling Landscape) applies to HR Policies within HR Knowledge Hub and is maintained by Maria Chen. Lists supporting systems, integrations, configuration owners, and upgrade cadence.</a:t>
            </a:r>
          </a:p>
          <a:p>
            <a:pPr lvl="1"/>
            <a:r>
              <a:t>Standardizes policy governance across North America, EMEA, and APAC hubs.</a:t>
            </a:r>
          </a:p>
          <a:p>
            <a:pPr lvl="1"/>
            <a:r>
              <a:t>Maps statutory compliance controls to quarterly HR Business Partner audit checkpoints.</a:t>
            </a:r>
          </a:p>
          <a:p>
            <a:pPr lvl="1"/>
            <a:r>
              <a:t>Section 13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Sec-13</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Stage 13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14. Appendix, Lineage &amp; Sign-off - Global Workplace Governance Architec</a:t>
            </a:r>
          </a:p>
        </p:txBody>
      </p:sp>
      <p:sp>
        <p:nvSpPr>
          <p:cNvPr id="3" name="Content Placeholder 2"/>
          <p:cNvSpPr>
            <a:spLocks noGrp="1"/>
          </p:cNvSpPr>
          <p:nvPr>
            <p:ph idx="1"/>
          </p:nvPr>
        </p:nvSpPr>
        <p:spPr/>
        <p:txBody>
          <a:bodyPr/>
          <a:lstStyle/>
          <a:p>
            <a:r>
              <a:t>Multi-slide executive presentation covering global HR policy architecture, regional compliance matrices, escalation paths, and annual audit readiness. Section 14 (Appendix, Lineage &amp; Sign-off) applies to HR Policies within HR Knowledge Hub and is maintained by Maria Chen. Records document lineage, governance metadata, version history, and owner sign-off.</a:t>
            </a:r>
          </a:p>
          <a:p>
            <a:pPr lvl="1"/>
            <a:r>
              <a:t>Maps statutory compliance controls to quarterly HR Business Partner audit checkpoints.</a:t>
            </a:r>
          </a:p>
          <a:p>
            <a:pPr lvl="1"/>
            <a:r>
              <a:t>Integrates incident intake, investigation SLAs, and executive reporting dashboards.</a:t>
            </a:r>
          </a:p>
          <a:p>
            <a:pPr lvl="1"/>
            <a:r>
              <a:t>Section 14 review cadence is tracked by Maria Chen under HR Policies governance.</a:t>
            </a:r>
          </a:p>
        </p:txBody>
      </p:sp>
      <p:graphicFrame>
        <p:nvGraphicFramePr>
          <p:cNvPr id="4" name="Table 3"/>
          <p:cNvGraphicFramePr>
            <a:graphicFrameLocks noGrp="1"/>
          </p:cNvGraphicFramePr>
          <p:nvPr/>
        </p:nvGraphicFramePr>
        <p:xfrm>
          <a:off x="548640" y="3749039"/>
          <a:ext cx="5669280" cy="1737360"/>
        </p:xfrm>
        <a:graphic>
          <a:graphicData uri="http://schemas.openxmlformats.org/drawingml/2006/table">
            <a:tbl>
              <a:tblPr firstRow="1" bandRow="1">
                <a:tableStyleId>{5C22544A-7EE6-4342-B048-85BDC9FD1C3A}</a:tableStyleId>
              </a:tblPr>
              <a:tblGrid>
                <a:gridCol w="1417320"/>
                <a:gridCol w="1417320"/>
                <a:gridCol w="1417320"/>
                <a:gridCol w="1417320"/>
              </a:tblGrid>
              <a:tr h="347472">
                <a:tc>
                  <a:txBody>
                    <a:bodyPr/>
                    <a:lstStyle/>
                    <a:p>
                      <a:pPr>
                        <a:defRPr b="1" sz="1100"/>
                      </a:pPr>
                      <a:r>
                        <a:t>Region</a:t>
                      </a:r>
                    </a:p>
                  </a:txBody>
                  <a:tcPr/>
                </a:tc>
                <a:tc>
                  <a:txBody>
                    <a:bodyPr/>
                    <a:lstStyle/>
                    <a:p>
                      <a:pPr>
                        <a:defRPr b="1" sz="1100"/>
                      </a:pPr>
                      <a:r>
                        <a:t>Policy Coverage</a:t>
                      </a:r>
                    </a:p>
                  </a:txBody>
                  <a:tcPr/>
                </a:tc>
                <a:tc>
                  <a:txBody>
                    <a:bodyPr/>
                    <a:lstStyle/>
                    <a:p>
                      <a:pPr>
                        <a:defRPr b="1" sz="1100"/>
                      </a:pPr>
                      <a:r>
                        <a:t>Audit SLA</a:t>
                      </a:r>
                    </a:p>
                  </a:txBody>
                  <a:tcPr/>
                </a:tc>
                <a:tc>
                  <a:txBody>
                    <a:bodyPr/>
                    <a:lstStyle/>
                    <a:p>
                      <a:pPr>
                        <a:defRPr b="1" sz="1100"/>
                      </a:pPr>
                      <a:r>
                        <a:t>Compliance Score</a:t>
                      </a:r>
                    </a:p>
                  </a:txBody>
                  <a:tcPr/>
                </a:tc>
              </a:tr>
              <a:tr h="347472">
                <a:tc>
                  <a:txBody>
                    <a:bodyPr/>
                    <a:lstStyle/>
                    <a:p>
                      <a:pPr>
                        <a:defRPr sz="1000"/>
                      </a:pPr>
                      <a:r>
                        <a:t>North America</a:t>
                      </a:r>
                    </a:p>
                  </a:txBody>
                  <a:tcPr/>
                </a:tc>
                <a:tc>
                  <a:txBody>
                    <a:bodyPr/>
                    <a:lstStyle/>
                    <a:p>
                      <a:pPr>
                        <a:defRPr sz="1000"/>
                      </a:pPr>
                      <a:r>
                        <a:t>100%</a:t>
                      </a:r>
                    </a:p>
                  </a:txBody>
                  <a:tcPr/>
                </a:tc>
                <a:tc>
                  <a:txBody>
                    <a:bodyPr/>
                    <a:lstStyle/>
                    <a:p>
                      <a:pPr>
                        <a:defRPr sz="1000"/>
                      </a:pPr>
                      <a:r>
                        <a:t>5 business days</a:t>
                      </a:r>
                    </a:p>
                  </a:txBody>
                  <a:tcPr/>
                </a:tc>
                <a:tc>
                  <a:txBody>
                    <a:bodyPr/>
                    <a:lstStyle/>
                    <a:p>
                      <a:pPr>
                        <a:defRPr sz="1000"/>
                      </a:pPr>
                      <a:r>
                        <a:t>98.4%</a:t>
                      </a:r>
                    </a:p>
                  </a:txBody>
                  <a:tcPr/>
                </a:tc>
              </a:tr>
              <a:tr h="347472">
                <a:tc>
                  <a:txBody>
                    <a:bodyPr/>
                    <a:lstStyle/>
                    <a:p>
                      <a:pPr>
                        <a:defRPr sz="1000"/>
                      </a:pPr>
                      <a:r>
                        <a:t>EMEA</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97.9%</a:t>
                      </a:r>
                    </a:p>
                  </a:txBody>
                  <a:tcPr/>
                </a:tc>
              </a:tr>
              <a:tr h="347472">
                <a:tc>
                  <a:txBody>
                    <a:bodyPr/>
                    <a:lstStyle/>
                    <a:p>
                      <a:pPr>
                        <a:defRPr sz="1000"/>
                      </a:pPr>
                      <a:r>
                        <a:t>APAC</a:t>
                      </a:r>
                    </a:p>
                  </a:txBody>
                  <a:tcPr/>
                </a:tc>
                <a:tc>
                  <a:txBody>
                    <a:bodyPr/>
                    <a:lstStyle/>
                    <a:p>
                      <a:pPr>
                        <a:defRPr sz="1000"/>
                      </a:pPr>
                      <a:r>
                        <a:t>98%</a:t>
                      </a:r>
                    </a:p>
                  </a:txBody>
                  <a:tcPr/>
                </a:tc>
                <a:tc>
                  <a:txBody>
                    <a:bodyPr/>
                    <a:lstStyle/>
                    <a:p>
                      <a:pPr>
                        <a:defRPr sz="1000"/>
                      </a:pPr>
                      <a:r>
                        <a:t>7 business days</a:t>
                      </a:r>
                    </a:p>
                  </a:txBody>
                  <a:tcPr/>
                </a:tc>
                <a:tc>
                  <a:txBody>
                    <a:bodyPr/>
                    <a:lstStyle/>
                    <a:p>
                      <a:pPr>
                        <a:defRPr sz="1000"/>
                      </a:pPr>
                      <a:r>
                        <a:t>96.8%</a:t>
                      </a:r>
                    </a:p>
                  </a:txBody>
                  <a:tcPr/>
                </a:tc>
              </a:tr>
              <a:tr h="347472">
                <a:tc>
                  <a:txBody>
                    <a:bodyPr/>
                    <a:lstStyle/>
                    <a:p>
                      <a:pPr>
                        <a:defRPr sz="1000"/>
                      </a:pPr>
                      <a:r>
                        <a:t>Sec-14</a:t>
                      </a:r>
                    </a:p>
                  </a:txBody>
                  <a:tcPr/>
                </a:tc>
                <a:tc>
                  <a:txBody>
                    <a:bodyPr/>
                    <a:lstStyle/>
                    <a:p>
                      <a:pPr>
                        <a:defRPr sz="1000"/>
                      </a:pPr>
                      <a:r>
                        <a:t>99%</a:t>
                      </a:r>
                    </a:p>
                  </a:txBody>
                  <a:tcPr/>
                </a:tc>
                <a:tc>
                  <a:txBody>
                    <a:bodyPr/>
                    <a:lstStyle/>
                    <a:p>
                      <a:pPr>
                        <a:defRPr sz="1000"/>
                      </a:pPr>
                      <a:r>
                        <a:t>5 business days</a:t>
                      </a:r>
                    </a:p>
                  </a:txBody>
                  <a:tcPr/>
                </a:tc>
                <a:tc>
                  <a:txBody>
                    <a:bodyPr/>
                    <a:lstStyle/>
                    <a:p>
                      <a:pPr>
                        <a:defRPr sz="1000"/>
                      </a:pPr>
                      <a:r>
                        <a:t>Stage 14 Verified</a:t>
                      </a:r>
                    </a:p>
                  </a:txBody>
                  <a:tcPr/>
                </a:tc>
              </a:tr>
            </a:tbl>
          </a:graphicData>
        </a:graphic>
      </p:graphicFrame>
      <p:pic>
        <p:nvPicPr>
          <p:cNvPr id="5" name="Picture 4" descr="image.png"/>
          <p:cNvPicPr>
            <a:picLocks noChangeAspect="1"/>
          </p:cNvPicPr>
          <p:nvPr/>
        </p:nvPicPr>
        <p:blipFill>
          <a:blip r:embed="rId2"/>
          <a:stretch>
            <a:fillRect/>
          </a:stretch>
        </p:blipFill>
        <p:spPr>
          <a:xfrm>
            <a:off x="6492240" y="3703320"/>
            <a:ext cx="5120640" cy="1828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