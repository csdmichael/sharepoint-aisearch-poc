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 (Executive Summary &amp; Scope) applies to Learning and Development within HR Knowledge Hub and is maintained by Alicia Gomez. Defines the operational charter, scope boundaries, and executive accountability.</a:t>
            </a:r>
          </a:p>
          <a:p>
            <a:pPr lvl="1"/>
            <a:r>
              <a:t>Recommends a weekly 1:1 cadence with a shared, employee-owned agenda document.</a:t>
            </a:r>
          </a:p>
          <a:p>
            <a:pPr lvl="1"/>
            <a:r>
              <a:t>Introduces the quarterly goal-setting template aligned to department OKRs.</a:t>
            </a:r>
          </a:p>
          <a:p>
            <a:pPr lvl="1"/>
            <a:r>
              <a:t>Section 1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2 (Architecture &amp; Process Flow) applies to Learning and Development within HR Knowledge Hub and is maintained by Alicia Gomez. Maps end-to-end process stages, handoff gates, and system-of-record integrations.</a:t>
            </a:r>
          </a:p>
          <a:p>
            <a:pPr lvl="1"/>
            <a:r>
              <a:t>Introduces the quarterly goal-setting template aligned to department OKRs.</a:t>
            </a:r>
          </a:p>
          <a:p>
            <a:pPr lvl="1"/>
            <a:r>
              <a:t>Covers informal recognition practices and the quarterly peer recognition awards.</a:t>
            </a:r>
          </a:p>
          <a:p>
            <a:pPr lvl="1"/>
            <a:r>
              <a:t>Section 2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Sec-2</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3 (Governance Standards &amp; Controls) applies to Learning and Development within HR Knowledge Hub and is maintained by Alicia Gomez. Establishes mandatory compliance controls, approval thresholds, and audit evidence.</a:t>
            </a:r>
          </a:p>
          <a:p>
            <a:pPr lvl="1"/>
            <a:r>
              <a:t>Covers informal recognition practices and the quarterly peer recognition awards.</a:t>
            </a:r>
          </a:p>
          <a:p>
            <a:pPr lvl="1"/>
            <a:r>
              <a:t>Closes with a manager self-assessment exercise.</a:t>
            </a:r>
          </a:p>
          <a:p>
            <a:pPr lvl="1"/>
            <a:r>
              <a:t>Section 3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Sec-3</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4 (Operational KPIs &amp; Benchmarks) applies to Learning and Development within HR Knowledge Hub and is maintained by Alicia Gomez. Tracks baseline performance, target SLAs, and quarterly benchmark progression.</a:t>
            </a:r>
          </a:p>
          <a:p>
            <a:pPr lvl="1"/>
            <a:r>
              <a:t>Closes with a manager self-assessment exercise.</a:t>
            </a:r>
          </a:p>
          <a:p>
            <a:pPr lvl="1"/>
            <a:r>
              <a:t>Recommends a weekly 1:1 cadence with a shared, employee-owned agenda document.</a:t>
            </a:r>
          </a:p>
          <a:p>
            <a:pPr lvl="1"/>
            <a:r>
              <a:t>Section 4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Sec-4</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5 (Roles, Responsibilities &amp; RACI) applies to Learning and Development within HR Knowledge Hub and is maintained by Alicia Gomez. Clarifies ownership across accountable executives, operational leads, and reviewers.</a:t>
            </a:r>
          </a:p>
          <a:p>
            <a:pPr lvl="1"/>
            <a:r>
              <a:t>Recommends a weekly 1:1 cadence with a shared, employee-owned agenda document.</a:t>
            </a:r>
          </a:p>
          <a:p>
            <a:pPr lvl="1"/>
            <a:r>
              <a:t>Introduces the quarterly goal-setting template aligned to department OKRs.</a:t>
            </a:r>
          </a:p>
          <a:p>
            <a:pPr lvl="1"/>
            <a:r>
              <a:t>Section 5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Sec-5</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6 (Standard Operating Procedures) applies to Learning and Development within HR Knowledge Hub and is maintained by Alicia Gomez. Provides step-by-step execution checklists, intake criteria, and verification gates.</a:t>
            </a:r>
          </a:p>
          <a:p>
            <a:pPr lvl="1"/>
            <a:r>
              <a:t>Introduces the quarterly goal-setting template aligned to department OKRs.</a:t>
            </a:r>
          </a:p>
          <a:p>
            <a:pPr lvl="1"/>
            <a:r>
              <a:t>Covers informal recognition practices and the quarterly peer recognition awards.</a:t>
            </a:r>
          </a:p>
          <a:p>
            <a:pPr lvl="1"/>
            <a:r>
              <a:t>Section 6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Sec-6</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7 (Risk Register &amp; Mitigations) applies to Learning and Development within HR Knowledge Hub and is maintained by Alicia Gomez. Catalogs operational, compliance, and delivery risks alongside preventive mitigations.</a:t>
            </a:r>
          </a:p>
          <a:p>
            <a:pPr lvl="1"/>
            <a:r>
              <a:t>Covers informal recognition practices and the quarterly peer recognition awards.</a:t>
            </a:r>
          </a:p>
          <a:p>
            <a:pPr lvl="1"/>
            <a:r>
              <a:t>Closes with a manager self-assessment exercise.</a:t>
            </a:r>
          </a:p>
          <a:p>
            <a:pPr lvl="1"/>
            <a:r>
              <a:t>Section 7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Sec-7</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8 (Quality Assurance &amp; Audits) applies to Learning and Development within HR Knowledge Hub and is maintained by Alicia Gomez. Specifies sampling frequencies, inspection tolerances, and nonconformance workflows.</a:t>
            </a:r>
          </a:p>
          <a:p>
            <a:pPr lvl="1"/>
            <a:r>
              <a:t>Closes with a manager self-assessment exercise.</a:t>
            </a:r>
          </a:p>
          <a:p>
            <a:pPr lvl="1"/>
            <a:r>
              <a:t>Recommends a weekly 1:1 cadence with a shared, employee-owned agenda document.</a:t>
            </a:r>
          </a:p>
          <a:p>
            <a:pPr lvl="1"/>
            <a:r>
              <a:t>Section 8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Sec-8</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9 (Exception Handling &amp; Escalations) applies to Learning and Development within HR Knowledge Hub and is maintained by Alicia Gomez. Outlines severity tiers, response SLAs, and cross-functional escalation paths.</a:t>
            </a:r>
          </a:p>
          <a:p>
            <a:pPr lvl="1"/>
            <a:r>
              <a:t>Recommends a weekly 1:1 cadence with a shared, employee-owned agenda document.</a:t>
            </a:r>
          </a:p>
          <a:p>
            <a:pPr lvl="1"/>
            <a:r>
              <a:t>Introduces the quarterly goal-setting template aligned to department OKRs.</a:t>
            </a:r>
          </a:p>
          <a:p>
            <a:pPr lvl="1"/>
            <a:r>
              <a:t>Section 9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Sec-9</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10 (Cross-Functional Dependencies) applies to Learning and Development within HR Knowledge Hub and is maintained by Alicia Gomez. Documents upstream and downstream team dependencies and service-level commitments.</a:t>
            </a:r>
          </a:p>
          <a:p>
            <a:pPr lvl="1"/>
            <a:r>
              <a:t>Introduces the quarterly goal-setting template aligned to department OKRs.</a:t>
            </a:r>
          </a:p>
          <a:p>
            <a:pPr lvl="1"/>
            <a:r>
              <a:t>Covers informal recognition practices and the quarterly peer recognition awards.</a:t>
            </a:r>
          </a:p>
          <a:p>
            <a:pPr lvl="1"/>
            <a:r>
              <a:t>Section 10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Sec-10</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11 (Continuous Improvement Roadmap) applies to Learning and Development within HR Knowledge Hub and is maintained by Alicia Gomez. Schedules quarterly optimization milestones, automation targets, and capability reviews.</a:t>
            </a:r>
          </a:p>
          <a:p>
            <a:pPr lvl="1"/>
            <a:r>
              <a:t>Covers informal recognition practices and the quarterly peer recognition awards.</a:t>
            </a:r>
          </a:p>
          <a:p>
            <a:pPr lvl="1"/>
            <a:r>
              <a:t>Closes with a manager self-assessment exercise.</a:t>
            </a:r>
          </a:p>
          <a:p>
            <a:pPr lvl="1"/>
            <a:r>
              <a:t>Section 11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Training &amp; Change Management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12 (Training &amp; Change Management) applies to Learning and Development within HR Knowledge Hub and is maintained by Alicia Gomez. Plans enablement sessions, communications, and adoption checkpoints for affected teams.</a:t>
            </a:r>
          </a:p>
          <a:p>
            <a:pPr lvl="1"/>
            <a:r>
              <a:t>Closes with a manager self-assessment exercise.</a:t>
            </a:r>
          </a:p>
          <a:p>
            <a:pPr lvl="1"/>
            <a:r>
              <a:t>Recommends a weekly 1:1 cadence with a shared, employee-owned agenda document.</a:t>
            </a:r>
          </a:p>
          <a:p>
            <a:pPr lvl="1"/>
            <a:r>
              <a:t>Section 12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Technology &amp; Tooling Landscape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13 (Technology &amp; Tooling Landscape) applies to Learning and Development within HR Knowledge Hub and is maintained by Alicia Gomez. Lists supporting systems, integrations, configuration owners, and upgrade cadence.</a:t>
            </a:r>
          </a:p>
          <a:p>
            <a:pPr lvl="1"/>
            <a:r>
              <a:t>Recommends a weekly 1:1 cadence with a shared, employee-owned agenda document.</a:t>
            </a:r>
          </a:p>
          <a:p>
            <a:pPr lvl="1"/>
            <a:r>
              <a:t>Introduces the quarterly goal-setting template aligned to department OKRs.</a:t>
            </a:r>
          </a:p>
          <a:p>
            <a:pPr lvl="1"/>
            <a:r>
              <a:t>Section 13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Sec-13</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Stage 13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Budget &amp; Resource Planning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14 (Budget &amp; Resource Planning) applies to Learning and Development within HR Knowledge Hub and is maintained by Alicia Gomez. Summarises staffing, spend by quarter, and approved investment envelopes.</a:t>
            </a:r>
          </a:p>
          <a:p>
            <a:pPr lvl="1"/>
            <a:r>
              <a:t>Introduces the quarterly goal-setting template aligned to department OKRs.</a:t>
            </a:r>
          </a:p>
          <a:p>
            <a:pPr lvl="1"/>
            <a:r>
              <a:t>Covers informal recognition practices and the quarterly peer recognition awards.</a:t>
            </a:r>
          </a:p>
          <a:p>
            <a:pPr lvl="1"/>
            <a:r>
              <a:t>Section 14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Sec-14</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Stage 14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Appendix, Lineage &amp; Sign-off - Manager Essentials Workshop Deck</a:t>
            </a:r>
          </a:p>
        </p:txBody>
      </p:sp>
      <p:sp>
        <p:nvSpPr>
          <p:cNvPr id="3" name="Content Placeholder 2"/>
          <p:cNvSpPr>
            <a:spLocks noGrp="1"/>
          </p:cNvSpPr>
          <p:nvPr>
            <p:ph idx="1"/>
          </p:nvPr>
        </p:nvSpPr>
        <p:spPr/>
        <p:txBody>
          <a:bodyPr/>
          <a:lstStyle/>
          <a:p>
            <a:r>
              <a:t>Slide deck used in the quarterly manager essentials workshop covering 1:1 cadence, goal setting, and recognition practices. Section 15 (Appendix, Lineage &amp; Sign-off) applies to Learning and Development within HR Knowledge Hub and is maintained by Alicia Gomez. Records document lineage, governance metadata, version history, and owner sign-off.</a:t>
            </a:r>
          </a:p>
          <a:p>
            <a:pPr lvl="1"/>
            <a:r>
              <a:t>Covers informal recognition practices and the quarterly peer recognition awards.</a:t>
            </a:r>
          </a:p>
          <a:p>
            <a:pPr lvl="1"/>
            <a:r>
              <a:t>Closes with a manager self-assessment exercise.</a:t>
            </a:r>
          </a:p>
          <a:p>
            <a:pPr lvl="1"/>
            <a:r>
              <a:t>Section 15 review cadence is tracked by Alicia Gomez under Learning and Development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Control Area</a:t>
                      </a:r>
                    </a:p>
                  </a:txBody>
                  <a:tcPr/>
                </a:tc>
                <a:tc>
                  <a:txBody>
                    <a:bodyPr/>
                    <a:lstStyle/>
                    <a:p>
                      <a:pPr>
                        <a:defRPr b="1" sz="1100"/>
                      </a:pPr>
                      <a:r>
                        <a:t>Owner</a:t>
                      </a:r>
                    </a:p>
                  </a:txBody>
                  <a:tcPr/>
                </a:tc>
                <a:tc>
                  <a:txBody>
                    <a:bodyPr/>
                    <a:lstStyle/>
                    <a:p>
                      <a:pPr>
                        <a:defRPr b="1" sz="1100"/>
                      </a:pPr>
                      <a:r>
                        <a:t>Target SLA</a:t>
                      </a:r>
                    </a:p>
                  </a:txBody>
                  <a:tcPr/>
                </a:tc>
                <a:tc>
                  <a:txBody>
                    <a:bodyPr/>
                    <a:lstStyle/>
                    <a:p>
                      <a:pPr>
                        <a:defRPr b="1" sz="1100"/>
                      </a:pPr>
                      <a:r>
                        <a:t>Verification Status</a:t>
                      </a:r>
                    </a:p>
                  </a:txBody>
                  <a:tcPr/>
                </a:tc>
              </a:tr>
              <a:tr h="347472">
                <a:tc>
                  <a:txBody>
                    <a:bodyPr/>
                    <a:lstStyle/>
                    <a:p>
                      <a:pPr>
                        <a:defRPr sz="1000"/>
                      </a:pPr>
                      <a:r>
                        <a:t>Learning and Development</a:t>
                      </a:r>
                    </a:p>
                  </a:txBody>
                  <a:tcPr/>
                </a:tc>
                <a:tc>
                  <a:txBody>
                    <a:bodyPr/>
                    <a:lstStyle/>
                    <a:p>
                      <a:pPr>
                        <a:defRPr sz="1000"/>
                      </a:pPr>
                      <a:r>
                        <a:t>Alicia Gomez</a:t>
                      </a:r>
                    </a:p>
                  </a:txBody>
                  <a:tcPr/>
                </a:tc>
                <a:tc>
                  <a:txBody>
                    <a:bodyPr/>
                    <a:lstStyle/>
                    <a:p>
                      <a:pPr>
                        <a:defRPr sz="1000"/>
                      </a:pPr>
                      <a:r>
                        <a:t>5 business days</a:t>
                      </a:r>
                    </a:p>
                  </a:txBody>
                  <a:tcPr/>
                </a:tc>
                <a:tc>
                  <a:txBody>
                    <a:bodyPr/>
                    <a:lstStyle/>
                    <a:p>
                      <a:pPr>
                        <a:defRPr sz="1000"/>
                      </a:pPr>
                      <a:r>
                        <a:t>Verified</a:t>
                      </a:r>
                    </a:p>
                  </a:txBody>
                  <a:tcPr/>
                </a:tc>
              </a:tr>
              <a:tr h="347472">
                <a:tc>
                  <a:txBody>
                    <a:bodyPr/>
                    <a:lstStyle/>
                    <a:p>
                      <a:pPr>
                        <a:defRPr sz="1000"/>
                      </a:pPr>
                      <a:r>
                        <a:t>Manager Essentials Workshop  Gate 1</a:t>
                      </a:r>
                    </a:p>
                  </a:txBody>
                  <a:tcPr/>
                </a:tc>
                <a:tc>
                  <a:txBody>
                    <a:bodyPr/>
                    <a:lstStyle/>
                    <a:p>
                      <a:pPr>
                        <a:defRPr sz="1000"/>
                      </a:pPr>
                      <a:r>
                        <a:t>Alicia Gomez</a:t>
                      </a:r>
                    </a:p>
                  </a:txBody>
                  <a:tcPr/>
                </a:tc>
                <a:tc>
                  <a:txBody>
                    <a:bodyPr/>
                    <a:lstStyle/>
                    <a:p>
                      <a:pPr>
                        <a:defRPr sz="1000"/>
                      </a:pPr>
                      <a:r>
                        <a:t>3 business days</a:t>
                      </a:r>
                    </a:p>
                  </a:txBody>
                  <a:tcPr/>
                </a:tc>
                <a:tc>
                  <a:txBody>
                    <a:bodyPr/>
                    <a:lstStyle/>
                    <a:p>
                      <a:pPr>
                        <a:defRPr sz="1000"/>
                      </a:pPr>
                      <a:r>
                        <a:t>Active</a:t>
                      </a:r>
                    </a:p>
                  </a:txBody>
                  <a:tcPr/>
                </a:tc>
              </a:tr>
              <a:tr h="347472">
                <a:tc>
                  <a:txBody>
                    <a:bodyPr/>
                    <a:lstStyle/>
                    <a:p>
                      <a:pPr>
                        <a:defRPr sz="1000"/>
                      </a:pPr>
                      <a:r>
                        <a:t>Manager Essentials Workshop  Gate 2</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Monitored</a:t>
                      </a:r>
                    </a:p>
                  </a:txBody>
                  <a:tcPr/>
                </a:tc>
              </a:tr>
              <a:tr h="347472">
                <a:tc>
                  <a:txBody>
                    <a:bodyPr/>
                    <a:lstStyle/>
                    <a:p>
                      <a:pPr>
                        <a:defRPr sz="1000"/>
                      </a:pPr>
                      <a:r>
                        <a:t>Sec-15</a:t>
                      </a:r>
                    </a:p>
                  </a:txBody>
                  <a:tcPr/>
                </a:tc>
                <a:tc>
                  <a:txBody>
                    <a:bodyPr/>
                    <a:lstStyle/>
                    <a:p>
                      <a:pPr>
                        <a:defRPr sz="1000"/>
                      </a:pPr>
                      <a:r>
                        <a:t>Alicia Gomez</a:t>
                      </a:r>
                    </a:p>
                  </a:txBody>
                  <a:tcPr/>
                </a:tc>
                <a:tc>
                  <a:txBody>
                    <a:bodyPr/>
                    <a:lstStyle/>
                    <a:p>
                      <a:pPr>
                        <a:defRPr sz="1000"/>
                      </a:pPr>
                      <a:r>
                        <a:t>10 business days</a:t>
                      </a:r>
                    </a:p>
                  </a:txBody>
                  <a:tcPr/>
                </a:tc>
                <a:tc>
                  <a:txBody>
                    <a:bodyPr/>
                    <a:lstStyle/>
                    <a:p>
                      <a:pPr>
                        <a:defRPr sz="1000"/>
                      </a:pPr>
                      <a:r>
                        <a:t>Stage 15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