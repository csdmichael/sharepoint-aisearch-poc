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 &amp; Scope - Enterprise Revenue Execution Playboo</a:t>
            </a:r>
          </a:p>
        </p:txBody>
      </p:sp>
      <p:sp>
        <p:nvSpPr>
          <p:cNvPr id="3" name="Content Placeholder 2"/>
          <p:cNvSpPr>
            <a:spLocks noGrp="1"/>
          </p:cNvSpPr>
          <p:nvPr>
            <p:ph idx="1"/>
          </p:nvPr>
        </p:nvSpPr>
        <p:spPr/>
        <p:txBody>
          <a:bodyPr/>
          <a:lstStyle/>
          <a:p>
            <a:r>
              <a:t>Multi-slide enablement deck covering enterprise discovery, MEDDPICC qualification, competitive positioning against Northstar, and deal desk guardrails. Reviewed for current governance cycle. Section 1 (Executive Summary &amp; Scope) applies to Sales Playbooks within Sales &amp; Marketing Knowledge Hub and is maintained by Rachel Kim. Defines the operational charter, scope boundaries, and executive accountability.</a:t>
            </a:r>
          </a:p>
          <a:p>
            <a:pPr lvl="1"/>
            <a:r>
              <a:t>Walks reps through executive value hypothesis and technical evaluation milestones.</a:t>
            </a:r>
          </a:p>
          <a:p>
            <a:pPr lvl="1"/>
            <a:r>
              <a:t>Contrasts real-time data freshness and TCO against legacy reporting competitors.</a:t>
            </a:r>
          </a:p>
          <a:p>
            <a:pPr lvl="1"/>
            <a:r>
              <a:t>Section 1 review cadence is tracked by Rachel Kim under Sales Playbooks governance.</a:t>
            </a:r>
          </a:p>
        </p:txBody>
      </p:sp>
      <p:graphicFrame>
        <p:nvGraphicFramePr>
          <p:cNvPr id="4" name="Table 3"/>
          <p:cNvGraphicFramePr>
            <a:graphicFrameLocks noGrp="1"/>
          </p:cNvGraphicFramePr>
          <p:nvPr/>
        </p:nvGraphicFramePr>
        <p:xfrm>
          <a:off x="548640" y="3749039"/>
          <a:ext cx="5669280" cy="1389888"/>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Deal Stage</a:t>
                      </a:r>
                    </a:p>
                  </a:txBody>
                  <a:tcPr/>
                </a:tc>
                <a:tc>
                  <a:txBody>
                    <a:bodyPr/>
                    <a:lstStyle/>
                    <a:p>
                      <a:pPr>
                        <a:defRPr b="1" sz="1100"/>
                      </a:pPr>
                      <a:r>
                        <a:t>Exit Criteria</a:t>
                      </a:r>
                    </a:p>
                  </a:txBody>
                  <a:tcPr/>
                </a:tc>
                <a:tc>
                  <a:txBody>
                    <a:bodyPr/>
                    <a:lstStyle/>
                    <a:p>
                      <a:pPr>
                        <a:defRPr b="1" sz="1100"/>
                      </a:pPr>
                      <a:r>
                        <a:t>Target Duration</a:t>
                      </a:r>
                    </a:p>
                  </a:txBody>
                  <a:tcPr/>
                </a:tc>
                <a:tc>
                  <a:txBody>
                    <a:bodyPr/>
                    <a:lstStyle/>
                    <a:p>
                      <a:pPr>
                        <a:defRPr b="1" sz="1100"/>
                      </a:pPr>
                      <a:r>
                        <a:t>Win Conversion</a:t>
                      </a:r>
                    </a:p>
                  </a:txBody>
                  <a:tcPr/>
                </a:tc>
              </a:tr>
              <a:tr h="347472">
                <a:tc>
                  <a:txBody>
                    <a:bodyPr/>
                    <a:lstStyle/>
                    <a:p>
                      <a:pPr>
                        <a:defRPr sz="1000"/>
                      </a:pPr>
                      <a:r>
                        <a:t>1. Discovery</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42%</a:t>
                      </a:r>
                    </a:p>
                  </a:txBody>
                  <a:tcPr/>
                </a:tc>
              </a:tr>
              <a:tr h="347472">
                <a:tc>
                  <a:txBody>
                    <a:bodyPr/>
                    <a:lstStyle/>
                    <a:p>
                      <a:pPr>
                        <a:defRPr sz="1000"/>
                      </a:pPr>
                      <a:r>
                        <a:t>2. Technical Validation</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68%</a:t>
                      </a:r>
                    </a:p>
                  </a:txBody>
                  <a:tcPr/>
                </a:tc>
              </a:tr>
              <a:tr h="347472">
                <a:tc>
                  <a:txBody>
                    <a:bodyPr/>
                    <a:lstStyle/>
                    <a:p>
                      <a:pPr>
                        <a:defRPr sz="1000"/>
                      </a:pPr>
                      <a:r>
                        <a:t>3. Commercial Review</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84%</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Architecture &amp; Process Flow - Enterprise Revenue Execution Playboo</a:t>
            </a:r>
          </a:p>
        </p:txBody>
      </p:sp>
      <p:sp>
        <p:nvSpPr>
          <p:cNvPr id="3" name="Content Placeholder 2"/>
          <p:cNvSpPr>
            <a:spLocks noGrp="1"/>
          </p:cNvSpPr>
          <p:nvPr>
            <p:ph idx="1"/>
          </p:nvPr>
        </p:nvSpPr>
        <p:spPr/>
        <p:txBody>
          <a:bodyPr/>
          <a:lstStyle/>
          <a:p>
            <a:r>
              <a:t>Multi-slide enablement deck covering enterprise discovery, MEDDPICC qualification, competitive positioning against Northstar, and deal desk guardrails. Reviewed for current governance cycle. Section 2 (Architecture &amp; Process Flow) applies to Sales Playbooks within Sales &amp; Marketing Knowledge Hub and is maintained by Rachel Kim. Maps end-to-end process stages, handoff gates, and system-of-record integrations.</a:t>
            </a:r>
          </a:p>
          <a:p>
            <a:pPr lvl="1"/>
            <a:r>
              <a:t>Contrasts real-time data freshness and TCO against legacy reporting competitors.</a:t>
            </a:r>
          </a:p>
          <a:p>
            <a:pPr lvl="1"/>
            <a:r>
              <a:t>Details discount approval tiers, multi-year ramp structures, and legal SLA paths.</a:t>
            </a:r>
          </a:p>
          <a:p>
            <a:pPr lvl="1"/>
            <a:r>
              <a:t>Section 2 review cadence is tracked by Rachel Kim under Sales Playbooks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Deal Stage</a:t>
                      </a:r>
                    </a:p>
                  </a:txBody>
                  <a:tcPr/>
                </a:tc>
                <a:tc>
                  <a:txBody>
                    <a:bodyPr/>
                    <a:lstStyle/>
                    <a:p>
                      <a:pPr>
                        <a:defRPr b="1" sz="1100"/>
                      </a:pPr>
                      <a:r>
                        <a:t>Exit Criteria</a:t>
                      </a:r>
                    </a:p>
                  </a:txBody>
                  <a:tcPr/>
                </a:tc>
                <a:tc>
                  <a:txBody>
                    <a:bodyPr/>
                    <a:lstStyle/>
                    <a:p>
                      <a:pPr>
                        <a:defRPr b="1" sz="1100"/>
                      </a:pPr>
                      <a:r>
                        <a:t>Target Duration</a:t>
                      </a:r>
                    </a:p>
                  </a:txBody>
                  <a:tcPr/>
                </a:tc>
                <a:tc>
                  <a:txBody>
                    <a:bodyPr/>
                    <a:lstStyle/>
                    <a:p>
                      <a:pPr>
                        <a:defRPr b="1" sz="1100"/>
                      </a:pPr>
                      <a:r>
                        <a:t>Win Conversion</a:t>
                      </a:r>
                    </a:p>
                  </a:txBody>
                  <a:tcPr/>
                </a:tc>
              </a:tr>
              <a:tr h="347472">
                <a:tc>
                  <a:txBody>
                    <a:bodyPr/>
                    <a:lstStyle/>
                    <a:p>
                      <a:pPr>
                        <a:defRPr sz="1000"/>
                      </a:pPr>
                      <a:r>
                        <a:t>1. Discovery</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42%</a:t>
                      </a:r>
                    </a:p>
                  </a:txBody>
                  <a:tcPr/>
                </a:tc>
              </a:tr>
              <a:tr h="347472">
                <a:tc>
                  <a:txBody>
                    <a:bodyPr/>
                    <a:lstStyle/>
                    <a:p>
                      <a:pPr>
                        <a:defRPr sz="1000"/>
                      </a:pPr>
                      <a:r>
                        <a:t>2. Technical Validation</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68%</a:t>
                      </a:r>
                    </a:p>
                  </a:txBody>
                  <a:tcPr/>
                </a:tc>
              </a:tr>
              <a:tr h="347472">
                <a:tc>
                  <a:txBody>
                    <a:bodyPr/>
                    <a:lstStyle/>
                    <a:p>
                      <a:pPr>
                        <a:defRPr sz="1000"/>
                      </a:pPr>
                      <a:r>
                        <a:t>3. Commercial Review</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84%</a:t>
                      </a:r>
                    </a:p>
                  </a:txBody>
                  <a:tcPr/>
                </a:tc>
              </a:tr>
              <a:tr h="347472">
                <a:tc>
                  <a:txBody>
                    <a:bodyPr/>
                    <a:lstStyle/>
                    <a:p>
                      <a:pPr>
                        <a:defRPr sz="1000"/>
                      </a:pPr>
                      <a:r>
                        <a:t>Sec-2</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Stage 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Governance Standards &amp; Controls - Enterprise Revenue Execution Playboo</a:t>
            </a:r>
          </a:p>
        </p:txBody>
      </p:sp>
      <p:sp>
        <p:nvSpPr>
          <p:cNvPr id="3" name="Content Placeholder 2"/>
          <p:cNvSpPr>
            <a:spLocks noGrp="1"/>
          </p:cNvSpPr>
          <p:nvPr>
            <p:ph idx="1"/>
          </p:nvPr>
        </p:nvSpPr>
        <p:spPr/>
        <p:txBody>
          <a:bodyPr/>
          <a:lstStyle/>
          <a:p>
            <a:r>
              <a:t>Multi-slide enablement deck covering enterprise discovery, MEDDPICC qualification, competitive positioning against Northstar, and deal desk guardrails. Reviewed for current governance cycle. Section 3 (Governance Standards &amp; Controls) applies to Sales Playbooks within Sales &amp; Marketing Knowledge Hub and is maintained by Rachel Kim. Establishes mandatory compliance controls, approval thresholds, and audit evidence.</a:t>
            </a:r>
          </a:p>
          <a:p>
            <a:pPr lvl="1"/>
            <a:r>
              <a:t>Details discount approval tiers, multi-year ramp structures, and legal SLA paths.</a:t>
            </a:r>
          </a:p>
          <a:p>
            <a:pPr lvl="1"/>
            <a:r>
              <a:t>Provides stage-by-stage exit criteria from Discovery through Closed-Won.</a:t>
            </a:r>
          </a:p>
          <a:p>
            <a:pPr lvl="1"/>
            <a:r>
              <a:t>Section 3 review cadence is tracked by Rachel Kim under Sales Playbooks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Deal Stage</a:t>
                      </a:r>
                    </a:p>
                  </a:txBody>
                  <a:tcPr/>
                </a:tc>
                <a:tc>
                  <a:txBody>
                    <a:bodyPr/>
                    <a:lstStyle/>
                    <a:p>
                      <a:pPr>
                        <a:defRPr b="1" sz="1100"/>
                      </a:pPr>
                      <a:r>
                        <a:t>Exit Criteria</a:t>
                      </a:r>
                    </a:p>
                  </a:txBody>
                  <a:tcPr/>
                </a:tc>
                <a:tc>
                  <a:txBody>
                    <a:bodyPr/>
                    <a:lstStyle/>
                    <a:p>
                      <a:pPr>
                        <a:defRPr b="1" sz="1100"/>
                      </a:pPr>
                      <a:r>
                        <a:t>Target Duration</a:t>
                      </a:r>
                    </a:p>
                  </a:txBody>
                  <a:tcPr/>
                </a:tc>
                <a:tc>
                  <a:txBody>
                    <a:bodyPr/>
                    <a:lstStyle/>
                    <a:p>
                      <a:pPr>
                        <a:defRPr b="1" sz="1100"/>
                      </a:pPr>
                      <a:r>
                        <a:t>Win Conversion</a:t>
                      </a:r>
                    </a:p>
                  </a:txBody>
                  <a:tcPr/>
                </a:tc>
              </a:tr>
              <a:tr h="347472">
                <a:tc>
                  <a:txBody>
                    <a:bodyPr/>
                    <a:lstStyle/>
                    <a:p>
                      <a:pPr>
                        <a:defRPr sz="1000"/>
                      </a:pPr>
                      <a:r>
                        <a:t>1. Discovery</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42%</a:t>
                      </a:r>
                    </a:p>
                  </a:txBody>
                  <a:tcPr/>
                </a:tc>
              </a:tr>
              <a:tr h="347472">
                <a:tc>
                  <a:txBody>
                    <a:bodyPr/>
                    <a:lstStyle/>
                    <a:p>
                      <a:pPr>
                        <a:defRPr sz="1000"/>
                      </a:pPr>
                      <a:r>
                        <a:t>2. Technical Validation</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68%</a:t>
                      </a:r>
                    </a:p>
                  </a:txBody>
                  <a:tcPr/>
                </a:tc>
              </a:tr>
              <a:tr h="347472">
                <a:tc>
                  <a:txBody>
                    <a:bodyPr/>
                    <a:lstStyle/>
                    <a:p>
                      <a:pPr>
                        <a:defRPr sz="1000"/>
                      </a:pPr>
                      <a:r>
                        <a:t>3. Commercial Review</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84%</a:t>
                      </a:r>
                    </a:p>
                  </a:txBody>
                  <a:tcPr/>
                </a:tc>
              </a:tr>
              <a:tr h="347472">
                <a:tc>
                  <a:txBody>
                    <a:bodyPr/>
                    <a:lstStyle/>
                    <a:p>
                      <a:pPr>
                        <a:defRPr sz="1000"/>
                      </a:pPr>
                      <a:r>
                        <a:t>Sec-3</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Stage 3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Operational KPIs &amp; Benchmarks - Enterprise Revenue Execution Playboo</a:t>
            </a:r>
          </a:p>
        </p:txBody>
      </p:sp>
      <p:sp>
        <p:nvSpPr>
          <p:cNvPr id="3" name="Content Placeholder 2"/>
          <p:cNvSpPr>
            <a:spLocks noGrp="1"/>
          </p:cNvSpPr>
          <p:nvPr>
            <p:ph idx="1"/>
          </p:nvPr>
        </p:nvSpPr>
        <p:spPr/>
        <p:txBody>
          <a:bodyPr/>
          <a:lstStyle/>
          <a:p>
            <a:r>
              <a:t>Multi-slide enablement deck covering enterprise discovery, MEDDPICC qualification, competitive positioning against Northstar, and deal desk guardrails. Reviewed for current governance cycle. Section 4 (Operational KPIs &amp; Benchmarks) applies to Sales Playbooks within Sales &amp; Marketing Knowledge Hub and is maintained by Rachel Kim. Tracks baseline performance, target SLAs, and quarterly benchmark progression.</a:t>
            </a:r>
          </a:p>
          <a:p>
            <a:pPr lvl="1"/>
            <a:r>
              <a:t>Provides stage-by-stage exit criteria from Discovery through Closed-Won.</a:t>
            </a:r>
          </a:p>
          <a:p>
            <a:pPr lvl="1"/>
            <a:r>
              <a:t>Walks reps through executive value hypothesis and technical evaluation milestones.</a:t>
            </a:r>
          </a:p>
          <a:p>
            <a:pPr lvl="1"/>
            <a:r>
              <a:t>Section 4 review cadence is tracked by Rachel Kim under Sales Playbooks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Deal Stage</a:t>
                      </a:r>
                    </a:p>
                  </a:txBody>
                  <a:tcPr/>
                </a:tc>
                <a:tc>
                  <a:txBody>
                    <a:bodyPr/>
                    <a:lstStyle/>
                    <a:p>
                      <a:pPr>
                        <a:defRPr b="1" sz="1100"/>
                      </a:pPr>
                      <a:r>
                        <a:t>Exit Criteria</a:t>
                      </a:r>
                    </a:p>
                  </a:txBody>
                  <a:tcPr/>
                </a:tc>
                <a:tc>
                  <a:txBody>
                    <a:bodyPr/>
                    <a:lstStyle/>
                    <a:p>
                      <a:pPr>
                        <a:defRPr b="1" sz="1100"/>
                      </a:pPr>
                      <a:r>
                        <a:t>Target Duration</a:t>
                      </a:r>
                    </a:p>
                  </a:txBody>
                  <a:tcPr/>
                </a:tc>
                <a:tc>
                  <a:txBody>
                    <a:bodyPr/>
                    <a:lstStyle/>
                    <a:p>
                      <a:pPr>
                        <a:defRPr b="1" sz="1100"/>
                      </a:pPr>
                      <a:r>
                        <a:t>Win Conversion</a:t>
                      </a:r>
                    </a:p>
                  </a:txBody>
                  <a:tcPr/>
                </a:tc>
              </a:tr>
              <a:tr h="347472">
                <a:tc>
                  <a:txBody>
                    <a:bodyPr/>
                    <a:lstStyle/>
                    <a:p>
                      <a:pPr>
                        <a:defRPr sz="1000"/>
                      </a:pPr>
                      <a:r>
                        <a:t>1. Discovery</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42%</a:t>
                      </a:r>
                    </a:p>
                  </a:txBody>
                  <a:tcPr/>
                </a:tc>
              </a:tr>
              <a:tr h="347472">
                <a:tc>
                  <a:txBody>
                    <a:bodyPr/>
                    <a:lstStyle/>
                    <a:p>
                      <a:pPr>
                        <a:defRPr sz="1000"/>
                      </a:pPr>
                      <a:r>
                        <a:t>2. Technical Validation</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68%</a:t>
                      </a:r>
                    </a:p>
                  </a:txBody>
                  <a:tcPr/>
                </a:tc>
              </a:tr>
              <a:tr h="347472">
                <a:tc>
                  <a:txBody>
                    <a:bodyPr/>
                    <a:lstStyle/>
                    <a:p>
                      <a:pPr>
                        <a:defRPr sz="1000"/>
                      </a:pPr>
                      <a:r>
                        <a:t>3. Commercial Review</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84%</a:t>
                      </a:r>
                    </a:p>
                  </a:txBody>
                  <a:tcPr/>
                </a:tc>
              </a:tr>
              <a:tr h="347472">
                <a:tc>
                  <a:txBody>
                    <a:bodyPr/>
                    <a:lstStyle/>
                    <a:p>
                      <a:pPr>
                        <a:defRPr sz="1000"/>
                      </a:pPr>
                      <a:r>
                        <a:t>Sec-4</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Stage 4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Roles, Responsibilities &amp; RACI - Enterprise Revenue Execution Playboo</a:t>
            </a:r>
          </a:p>
        </p:txBody>
      </p:sp>
      <p:sp>
        <p:nvSpPr>
          <p:cNvPr id="3" name="Content Placeholder 2"/>
          <p:cNvSpPr>
            <a:spLocks noGrp="1"/>
          </p:cNvSpPr>
          <p:nvPr>
            <p:ph idx="1"/>
          </p:nvPr>
        </p:nvSpPr>
        <p:spPr/>
        <p:txBody>
          <a:bodyPr/>
          <a:lstStyle/>
          <a:p>
            <a:r>
              <a:t>Multi-slide enablement deck covering enterprise discovery, MEDDPICC qualification, competitive positioning against Northstar, and deal desk guardrails. Reviewed for current governance cycle. Section 5 (Roles, Responsibilities &amp; RACI) applies to Sales Playbooks within Sales &amp; Marketing Knowledge Hub and is maintained by Rachel Kim. Clarifies ownership across accountable executives, operational leads, and reviewers.</a:t>
            </a:r>
          </a:p>
          <a:p>
            <a:pPr lvl="1"/>
            <a:r>
              <a:t>Walks reps through executive value hypothesis and technical evaluation milestones.</a:t>
            </a:r>
          </a:p>
          <a:p>
            <a:pPr lvl="1"/>
            <a:r>
              <a:t>Contrasts real-time data freshness and TCO against legacy reporting competitors.</a:t>
            </a:r>
          </a:p>
          <a:p>
            <a:pPr lvl="1"/>
            <a:r>
              <a:t>Section 5 review cadence is tracked by Rachel Kim under Sales Playbooks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Deal Stage</a:t>
                      </a:r>
                    </a:p>
                  </a:txBody>
                  <a:tcPr/>
                </a:tc>
                <a:tc>
                  <a:txBody>
                    <a:bodyPr/>
                    <a:lstStyle/>
                    <a:p>
                      <a:pPr>
                        <a:defRPr b="1" sz="1100"/>
                      </a:pPr>
                      <a:r>
                        <a:t>Exit Criteria</a:t>
                      </a:r>
                    </a:p>
                  </a:txBody>
                  <a:tcPr/>
                </a:tc>
                <a:tc>
                  <a:txBody>
                    <a:bodyPr/>
                    <a:lstStyle/>
                    <a:p>
                      <a:pPr>
                        <a:defRPr b="1" sz="1100"/>
                      </a:pPr>
                      <a:r>
                        <a:t>Target Duration</a:t>
                      </a:r>
                    </a:p>
                  </a:txBody>
                  <a:tcPr/>
                </a:tc>
                <a:tc>
                  <a:txBody>
                    <a:bodyPr/>
                    <a:lstStyle/>
                    <a:p>
                      <a:pPr>
                        <a:defRPr b="1" sz="1100"/>
                      </a:pPr>
                      <a:r>
                        <a:t>Win Conversion</a:t>
                      </a:r>
                    </a:p>
                  </a:txBody>
                  <a:tcPr/>
                </a:tc>
              </a:tr>
              <a:tr h="347472">
                <a:tc>
                  <a:txBody>
                    <a:bodyPr/>
                    <a:lstStyle/>
                    <a:p>
                      <a:pPr>
                        <a:defRPr sz="1000"/>
                      </a:pPr>
                      <a:r>
                        <a:t>1. Discovery</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42%</a:t>
                      </a:r>
                    </a:p>
                  </a:txBody>
                  <a:tcPr/>
                </a:tc>
              </a:tr>
              <a:tr h="347472">
                <a:tc>
                  <a:txBody>
                    <a:bodyPr/>
                    <a:lstStyle/>
                    <a:p>
                      <a:pPr>
                        <a:defRPr sz="1000"/>
                      </a:pPr>
                      <a:r>
                        <a:t>2. Technical Validation</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68%</a:t>
                      </a:r>
                    </a:p>
                  </a:txBody>
                  <a:tcPr/>
                </a:tc>
              </a:tr>
              <a:tr h="347472">
                <a:tc>
                  <a:txBody>
                    <a:bodyPr/>
                    <a:lstStyle/>
                    <a:p>
                      <a:pPr>
                        <a:defRPr sz="1000"/>
                      </a:pPr>
                      <a:r>
                        <a:t>3. Commercial Review</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84%</a:t>
                      </a:r>
                    </a:p>
                  </a:txBody>
                  <a:tcPr/>
                </a:tc>
              </a:tr>
              <a:tr h="347472">
                <a:tc>
                  <a:txBody>
                    <a:bodyPr/>
                    <a:lstStyle/>
                    <a:p>
                      <a:pPr>
                        <a:defRPr sz="1000"/>
                      </a:pPr>
                      <a:r>
                        <a:t>Sec-5</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Stage 5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Standard Operating Procedures - Enterprise Revenue Execution Playboo</a:t>
            </a:r>
          </a:p>
        </p:txBody>
      </p:sp>
      <p:sp>
        <p:nvSpPr>
          <p:cNvPr id="3" name="Content Placeholder 2"/>
          <p:cNvSpPr>
            <a:spLocks noGrp="1"/>
          </p:cNvSpPr>
          <p:nvPr>
            <p:ph idx="1"/>
          </p:nvPr>
        </p:nvSpPr>
        <p:spPr/>
        <p:txBody>
          <a:bodyPr/>
          <a:lstStyle/>
          <a:p>
            <a:r>
              <a:t>Multi-slide enablement deck covering enterprise discovery, MEDDPICC qualification, competitive positioning against Northstar, and deal desk guardrails. Reviewed for current governance cycle. Section 6 (Standard Operating Procedures) applies to Sales Playbooks within Sales &amp; Marketing Knowledge Hub and is maintained by Rachel Kim. Provides step-by-step execution checklists, intake criteria, and verification gates.</a:t>
            </a:r>
          </a:p>
          <a:p>
            <a:pPr lvl="1"/>
            <a:r>
              <a:t>Contrasts real-time data freshness and TCO against legacy reporting competitors.</a:t>
            </a:r>
          </a:p>
          <a:p>
            <a:pPr lvl="1"/>
            <a:r>
              <a:t>Details discount approval tiers, multi-year ramp structures, and legal SLA paths.</a:t>
            </a:r>
          </a:p>
          <a:p>
            <a:pPr lvl="1"/>
            <a:r>
              <a:t>Section 6 review cadence is tracked by Rachel Kim under Sales Playbooks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Deal Stage</a:t>
                      </a:r>
                    </a:p>
                  </a:txBody>
                  <a:tcPr/>
                </a:tc>
                <a:tc>
                  <a:txBody>
                    <a:bodyPr/>
                    <a:lstStyle/>
                    <a:p>
                      <a:pPr>
                        <a:defRPr b="1" sz="1100"/>
                      </a:pPr>
                      <a:r>
                        <a:t>Exit Criteria</a:t>
                      </a:r>
                    </a:p>
                  </a:txBody>
                  <a:tcPr/>
                </a:tc>
                <a:tc>
                  <a:txBody>
                    <a:bodyPr/>
                    <a:lstStyle/>
                    <a:p>
                      <a:pPr>
                        <a:defRPr b="1" sz="1100"/>
                      </a:pPr>
                      <a:r>
                        <a:t>Target Duration</a:t>
                      </a:r>
                    </a:p>
                  </a:txBody>
                  <a:tcPr/>
                </a:tc>
                <a:tc>
                  <a:txBody>
                    <a:bodyPr/>
                    <a:lstStyle/>
                    <a:p>
                      <a:pPr>
                        <a:defRPr b="1" sz="1100"/>
                      </a:pPr>
                      <a:r>
                        <a:t>Win Conversion</a:t>
                      </a:r>
                    </a:p>
                  </a:txBody>
                  <a:tcPr/>
                </a:tc>
              </a:tr>
              <a:tr h="347472">
                <a:tc>
                  <a:txBody>
                    <a:bodyPr/>
                    <a:lstStyle/>
                    <a:p>
                      <a:pPr>
                        <a:defRPr sz="1000"/>
                      </a:pPr>
                      <a:r>
                        <a:t>1. Discovery</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42%</a:t>
                      </a:r>
                    </a:p>
                  </a:txBody>
                  <a:tcPr/>
                </a:tc>
              </a:tr>
              <a:tr h="347472">
                <a:tc>
                  <a:txBody>
                    <a:bodyPr/>
                    <a:lstStyle/>
                    <a:p>
                      <a:pPr>
                        <a:defRPr sz="1000"/>
                      </a:pPr>
                      <a:r>
                        <a:t>2. Technical Validation</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68%</a:t>
                      </a:r>
                    </a:p>
                  </a:txBody>
                  <a:tcPr/>
                </a:tc>
              </a:tr>
              <a:tr h="347472">
                <a:tc>
                  <a:txBody>
                    <a:bodyPr/>
                    <a:lstStyle/>
                    <a:p>
                      <a:pPr>
                        <a:defRPr sz="1000"/>
                      </a:pPr>
                      <a:r>
                        <a:t>3. Commercial Review</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84%</a:t>
                      </a:r>
                    </a:p>
                  </a:txBody>
                  <a:tcPr/>
                </a:tc>
              </a:tr>
              <a:tr h="347472">
                <a:tc>
                  <a:txBody>
                    <a:bodyPr/>
                    <a:lstStyle/>
                    <a:p>
                      <a:pPr>
                        <a:defRPr sz="1000"/>
                      </a:pPr>
                      <a:r>
                        <a:t>Sec-6</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Stage 6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Risk Register &amp; Mitigations - Enterprise Revenue Execution Playboo</a:t>
            </a:r>
          </a:p>
        </p:txBody>
      </p:sp>
      <p:sp>
        <p:nvSpPr>
          <p:cNvPr id="3" name="Content Placeholder 2"/>
          <p:cNvSpPr>
            <a:spLocks noGrp="1"/>
          </p:cNvSpPr>
          <p:nvPr>
            <p:ph idx="1"/>
          </p:nvPr>
        </p:nvSpPr>
        <p:spPr/>
        <p:txBody>
          <a:bodyPr/>
          <a:lstStyle/>
          <a:p>
            <a:r>
              <a:t>Multi-slide enablement deck covering enterprise discovery, MEDDPICC qualification, competitive positioning against Northstar, and deal desk guardrails. Reviewed for current governance cycle. Section 7 (Risk Register &amp; Mitigations) applies to Sales Playbooks within Sales &amp; Marketing Knowledge Hub and is maintained by Rachel Kim. Catalogs operational, compliance, and delivery risks alongside preventive mitigations.</a:t>
            </a:r>
          </a:p>
          <a:p>
            <a:pPr lvl="1"/>
            <a:r>
              <a:t>Details discount approval tiers, multi-year ramp structures, and legal SLA paths.</a:t>
            </a:r>
          </a:p>
          <a:p>
            <a:pPr lvl="1"/>
            <a:r>
              <a:t>Provides stage-by-stage exit criteria from Discovery through Closed-Won.</a:t>
            </a:r>
          </a:p>
          <a:p>
            <a:pPr lvl="1"/>
            <a:r>
              <a:t>Section 7 review cadence is tracked by Rachel Kim under Sales Playbooks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Deal Stage</a:t>
                      </a:r>
                    </a:p>
                  </a:txBody>
                  <a:tcPr/>
                </a:tc>
                <a:tc>
                  <a:txBody>
                    <a:bodyPr/>
                    <a:lstStyle/>
                    <a:p>
                      <a:pPr>
                        <a:defRPr b="1" sz="1100"/>
                      </a:pPr>
                      <a:r>
                        <a:t>Exit Criteria</a:t>
                      </a:r>
                    </a:p>
                  </a:txBody>
                  <a:tcPr/>
                </a:tc>
                <a:tc>
                  <a:txBody>
                    <a:bodyPr/>
                    <a:lstStyle/>
                    <a:p>
                      <a:pPr>
                        <a:defRPr b="1" sz="1100"/>
                      </a:pPr>
                      <a:r>
                        <a:t>Target Duration</a:t>
                      </a:r>
                    </a:p>
                  </a:txBody>
                  <a:tcPr/>
                </a:tc>
                <a:tc>
                  <a:txBody>
                    <a:bodyPr/>
                    <a:lstStyle/>
                    <a:p>
                      <a:pPr>
                        <a:defRPr b="1" sz="1100"/>
                      </a:pPr>
                      <a:r>
                        <a:t>Win Conversion</a:t>
                      </a:r>
                    </a:p>
                  </a:txBody>
                  <a:tcPr/>
                </a:tc>
              </a:tr>
              <a:tr h="347472">
                <a:tc>
                  <a:txBody>
                    <a:bodyPr/>
                    <a:lstStyle/>
                    <a:p>
                      <a:pPr>
                        <a:defRPr sz="1000"/>
                      </a:pPr>
                      <a:r>
                        <a:t>1. Discovery</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42%</a:t>
                      </a:r>
                    </a:p>
                  </a:txBody>
                  <a:tcPr/>
                </a:tc>
              </a:tr>
              <a:tr h="347472">
                <a:tc>
                  <a:txBody>
                    <a:bodyPr/>
                    <a:lstStyle/>
                    <a:p>
                      <a:pPr>
                        <a:defRPr sz="1000"/>
                      </a:pPr>
                      <a:r>
                        <a:t>2. Technical Validation</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68%</a:t>
                      </a:r>
                    </a:p>
                  </a:txBody>
                  <a:tcPr/>
                </a:tc>
              </a:tr>
              <a:tr h="347472">
                <a:tc>
                  <a:txBody>
                    <a:bodyPr/>
                    <a:lstStyle/>
                    <a:p>
                      <a:pPr>
                        <a:defRPr sz="1000"/>
                      </a:pPr>
                      <a:r>
                        <a:t>3. Commercial Review</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84%</a:t>
                      </a:r>
                    </a:p>
                  </a:txBody>
                  <a:tcPr/>
                </a:tc>
              </a:tr>
              <a:tr h="347472">
                <a:tc>
                  <a:txBody>
                    <a:bodyPr/>
                    <a:lstStyle/>
                    <a:p>
                      <a:pPr>
                        <a:defRPr sz="1000"/>
                      </a:pPr>
                      <a:r>
                        <a:t>Sec-7</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Stage 7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Quality Assurance &amp; Audits - Enterprise Revenue Execution Playboo</a:t>
            </a:r>
          </a:p>
        </p:txBody>
      </p:sp>
      <p:sp>
        <p:nvSpPr>
          <p:cNvPr id="3" name="Content Placeholder 2"/>
          <p:cNvSpPr>
            <a:spLocks noGrp="1"/>
          </p:cNvSpPr>
          <p:nvPr>
            <p:ph idx="1"/>
          </p:nvPr>
        </p:nvSpPr>
        <p:spPr/>
        <p:txBody>
          <a:bodyPr/>
          <a:lstStyle/>
          <a:p>
            <a:r>
              <a:t>Multi-slide enablement deck covering enterprise discovery, MEDDPICC qualification, competitive positioning against Northstar, and deal desk guardrails. Reviewed for current governance cycle. Section 8 (Quality Assurance &amp; Audits) applies to Sales Playbooks within Sales &amp; Marketing Knowledge Hub and is maintained by Rachel Kim. Specifies sampling frequencies, inspection tolerances, and nonconformance workflows.</a:t>
            </a:r>
          </a:p>
          <a:p>
            <a:pPr lvl="1"/>
            <a:r>
              <a:t>Provides stage-by-stage exit criteria from Discovery through Closed-Won.</a:t>
            </a:r>
          </a:p>
          <a:p>
            <a:pPr lvl="1"/>
            <a:r>
              <a:t>Walks reps through executive value hypothesis and technical evaluation milestones.</a:t>
            </a:r>
          </a:p>
          <a:p>
            <a:pPr lvl="1"/>
            <a:r>
              <a:t>Section 8 review cadence is tracked by Rachel Kim under Sales Playbooks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Deal Stage</a:t>
                      </a:r>
                    </a:p>
                  </a:txBody>
                  <a:tcPr/>
                </a:tc>
                <a:tc>
                  <a:txBody>
                    <a:bodyPr/>
                    <a:lstStyle/>
                    <a:p>
                      <a:pPr>
                        <a:defRPr b="1" sz="1100"/>
                      </a:pPr>
                      <a:r>
                        <a:t>Exit Criteria</a:t>
                      </a:r>
                    </a:p>
                  </a:txBody>
                  <a:tcPr/>
                </a:tc>
                <a:tc>
                  <a:txBody>
                    <a:bodyPr/>
                    <a:lstStyle/>
                    <a:p>
                      <a:pPr>
                        <a:defRPr b="1" sz="1100"/>
                      </a:pPr>
                      <a:r>
                        <a:t>Target Duration</a:t>
                      </a:r>
                    </a:p>
                  </a:txBody>
                  <a:tcPr/>
                </a:tc>
                <a:tc>
                  <a:txBody>
                    <a:bodyPr/>
                    <a:lstStyle/>
                    <a:p>
                      <a:pPr>
                        <a:defRPr b="1" sz="1100"/>
                      </a:pPr>
                      <a:r>
                        <a:t>Win Conversion</a:t>
                      </a:r>
                    </a:p>
                  </a:txBody>
                  <a:tcPr/>
                </a:tc>
              </a:tr>
              <a:tr h="347472">
                <a:tc>
                  <a:txBody>
                    <a:bodyPr/>
                    <a:lstStyle/>
                    <a:p>
                      <a:pPr>
                        <a:defRPr sz="1000"/>
                      </a:pPr>
                      <a:r>
                        <a:t>1. Discovery</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42%</a:t>
                      </a:r>
                    </a:p>
                  </a:txBody>
                  <a:tcPr/>
                </a:tc>
              </a:tr>
              <a:tr h="347472">
                <a:tc>
                  <a:txBody>
                    <a:bodyPr/>
                    <a:lstStyle/>
                    <a:p>
                      <a:pPr>
                        <a:defRPr sz="1000"/>
                      </a:pPr>
                      <a:r>
                        <a:t>2. Technical Validation</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68%</a:t>
                      </a:r>
                    </a:p>
                  </a:txBody>
                  <a:tcPr/>
                </a:tc>
              </a:tr>
              <a:tr h="347472">
                <a:tc>
                  <a:txBody>
                    <a:bodyPr/>
                    <a:lstStyle/>
                    <a:p>
                      <a:pPr>
                        <a:defRPr sz="1000"/>
                      </a:pPr>
                      <a:r>
                        <a:t>3. Commercial Review</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84%</a:t>
                      </a:r>
                    </a:p>
                  </a:txBody>
                  <a:tcPr/>
                </a:tc>
              </a:tr>
              <a:tr h="347472">
                <a:tc>
                  <a:txBody>
                    <a:bodyPr/>
                    <a:lstStyle/>
                    <a:p>
                      <a:pPr>
                        <a:defRPr sz="1000"/>
                      </a:pPr>
                      <a:r>
                        <a:t>Sec-8</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Stage 8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Exception Handling &amp; Escalations - Enterprise Revenue Execution Playboo</a:t>
            </a:r>
          </a:p>
        </p:txBody>
      </p:sp>
      <p:sp>
        <p:nvSpPr>
          <p:cNvPr id="3" name="Content Placeholder 2"/>
          <p:cNvSpPr>
            <a:spLocks noGrp="1"/>
          </p:cNvSpPr>
          <p:nvPr>
            <p:ph idx="1"/>
          </p:nvPr>
        </p:nvSpPr>
        <p:spPr/>
        <p:txBody>
          <a:bodyPr/>
          <a:lstStyle/>
          <a:p>
            <a:r>
              <a:t>Multi-slide enablement deck covering enterprise discovery, MEDDPICC qualification, competitive positioning against Northstar, and deal desk guardrails. Reviewed for current governance cycle. Section 9 (Exception Handling &amp; Escalations) applies to Sales Playbooks within Sales &amp; Marketing Knowledge Hub and is maintained by Rachel Kim. Outlines severity tiers, response SLAs, and cross-functional escalation paths.</a:t>
            </a:r>
          </a:p>
          <a:p>
            <a:pPr lvl="1"/>
            <a:r>
              <a:t>Walks reps through executive value hypothesis and technical evaluation milestones.</a:t>
            </a:r>
          </a:p>
          <a:p>
            <a:pPr lvl="1"/>
            <a:r>
              <a:t>Contrasts real-time data freshness and TCO against legacy reporting competitors.</a:t>
            </a:r>
          </a:p>
          <a:p>
            <a:pPr lvl="1"/>
            <a:r>
              <a:t>Section 9 review cadence is tracked by Rachel Kim under Sales Playbooks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Deal Stage</a:t>
                      </a:r>
                    </a:p>
                  </a:txBody>
                  <a:tcPr/>
                </a:tc>
                <a:tc>
                  <a:txBody>
                    <a:bodyPr/>
                    <a:lstStyle/>
                    <a:p>
                      <a:pPr>
                        <a:defRPr b="1" sz="1100"/>
                      </a:pPr>
                      <a:r>
                        <a:t>Exit Criteria</a:t>
                      </a:r>
                    </a:p>
                  </a:txBody>
                  <a:tcPr/>
                </a:tc>
                <a:tc>
                  <a:txBody>
                    <a:bodyPr/>
                    <a:lstStyle/>
                    <a:p>
                      <a:pPr>
                        <a:defRPr b="1" sz="1100"/>
                      </a:pPr>
                      <a:r>
                        <a:t>Target Duration</a:t>
                      </a:r>
                    </a:p>
                  </a:txBody>
                  <a:tcPr/>
                </a:tc>
                <a:tc>
                  <a:txBody>
                    <a:bodyPr/>
                    <a:lstStyle/>
                    <a:p>
                      <a:pPr>
                        <a:defRPr b="1" sz="1100"/>
                      </a:pPr>
                      <a:r>
                        <a:t>Win Conversion</a:t>
                      </a:r>
                    </a:p>
                  </a:txBody>
                  <a:tcPr/>
                </a:tc>
              </a:tr>
              <a:tr h="347472">
                <a:tc>
                  <a:txBody>
                    <a:bodyPr/>
                    <a:lstStyle/>
                    <a:p>
                      <a:pPr>
                        <a:defRPr sz="1000"/>
                      </a:pPr>
                      <a:r>
                        <a:t>1. Discovery</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42%</a:t>
                      </a:r>
                    </a:p>
                  </a:txBody>
                  <a:tcPr/>
                </a:tc>
              </a:tr>
              <a:tr h="347472">
                <a:tc>
                  <a:txBody>
                    <a:bodyPr/>
                    <a:lstStyle/>
                    <a:p>
                      <a:pPr>
                        <a:defRPr sz="1000"/>
                      </a:pPr>
                      <a:r>
                        <a:t>2. Technical Validation</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68%</a:t>
                      </a:r>
                    </a:p>
                  </a:txBody>
                  <a:tcPr/>
                </a:tc>
              </a:tr>
              <a:tr h="347472">
                <a:tc>
                  <a:txBody>
                    <a:bodyPr/>
                    <a:lstStyle/>
                    <a:p>
                      <a:pPr>
                        <a:defRPr sz="1000"/>
                      </a:pPr>
                      <a:r>
                        <a:t>3. Commercial Review</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84%</a:t>
                      </a:r>
                    </a:p>
                  </a:txBody>
                  <a:tcPr/>
                </a:tc>
              </a:tr>
              <a:tr h="347472">
                <a:tc>
                  <a:txBody>
                    <a:bodyPr/>
                    <a:lstStyle/>
                    <a:p>
                      <a:pPr>
                        <a:defRPr sz="1000"/>
                      </a:pPr>
                      <a:r>
                        <a:t>Sec-9</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Stage 9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Cross-Functional Dependencies - Enterprise Revenue Execution Playboo</a:t>
            </a:r>
          </a:p>
        </p:txBody>
      </p:sp>
      <p:sp>
        <p:nvSpPr>
          <p:cNvPr id="3" name="Content Placeholder 2"/>
          <p:cNvSpPr>
            <a:spLocks noGrp="1"/>
          </p:cNvSpPr>
          <p:nvPr>
            <p:ph idx="1"/>
          </p:nvPr>
        </p:nvSpPr>
        <p:spPr/>
        <p:txBody>
          <a:bodyPr/>
          <a:lstStyle/>
          <a:p>
            <a:r>
              <a:t>Multi-slide enablement deck covering enterprise discovery, MEDDPICC qualification, competitive positioning against Northstar, and deal desk guardrails. Reviewed for current governance cycle. Section 10 (Cross-Functional Dependencies) applies to Sales Playbooks within Sales &amp; Marketing Knowledge Hub and is maintained by Rachel Kim. Documents upstream and downstream team dependencies and service-level commitments.</a:t>
            </a:r>
          </a:p>
          <a:p>
            <a:pPr lvl="1"/>
            <a:r>
              <a:t>Contrasts real-time data freshness and TCO against legacy reporting competitors.</a:t>
            </a:r>
          </a:p>
          <a:p>
            <a:pPr lvl="1"/>
            <a:r>
              <a:t>Details discount approval tiers, multi-year ramp structures, and legal SLA paths.</a:t>
            </a:r>
          </a:p>
          <a:p>
            <a:pPr lvl="1"/>
            <a:r>
              <a:t>Section 10 review cadence is tracked by Rachel Kim under Sales Playbooks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Deal Stage</a:t>
                      </a:r>
                    </a:p>
                  </a:txBody>
                  <a:tcPr/>
                </a:tc>
                <a:tc>
                  <a:txBody>
                    <a:bodyPr/>
                    <a:lstStyle/>
                    <a:p>
                      <a:pPr>
                        <a:defRPr b="1" sz="1100"/>
                      </a:pPr>
                      <a:r>
                        <a:t>Exit Criteria</a:t>
                      </a:r>
                    </a:p>
                  </a:txBody>
                  <a:tcPr/>
                </a:tc>
                <a:tc>
                  <a:txBody>
                    <a:bodyPr/>
                    <a:lstStyle/>
                    <a:p>
                      <a:pPr>
                        <a:defRPr b="1" sz="1100"/>
                      </a:pPr>
                      <a:r>
                        <a:t>Target Duration</a:t>
                      </a:r>
                    </a:p>
                  </a:txBody>
                  <a:tcPr/>
                </a:tc>
                <a:tc>
                  <a:txBody>
                    <a:bodyPr/>
                    <a:lstStyle/>
                    <a:p>
                      <a:pPr>
                        <a:defRPr b="1" sz="1100"/>
                      </a:pPr>
                      <a:r>
                        <a:t>Win Conversion</a:t>
                      </a:r>
                    </a:p>
                  </a:txBody>
                  <a:tcPr/>
                </a:tc>
              </a:tr>
              <a:tr h="347472">
                <a:tc>
                  <a:txBody>
                    <a:bodyPr/>
                    <a:lstStyle/>
                    <a:p>
                      <a:pPr>
                        <a:defRPr sz="1000"/>
                      </a:pPr>
                      <a:r>
                        <a:t>1. Discovery</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42%</a:t>
                      </a:r>
                    </a:p>
                  </a:txBody>
                  <a:tcPr/>
                </a:tc>
              </a:tr>
              <a:tr h="347472">
                <a:tc>
                  <a:txBody>
                    <a:bodyPr/>
                    <a:lstStyle/>
                    <a:p>
                      <a:pPr>
                        <a:defRPr sz="1000"/>
                      </a:pPr>
                      <a:r>
                        <a:t>2. Technical Validation</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68%</a:t>
                      </a:r>
                    </a:p>
                  </a:txBody>
                  <a:tcPr/>
                </a:tc>
              </a:tr>
              <a:tr h="347472">
                <a:tc>
                  <a:txBody>
                    <a:bodyPr/>
                    <a:lstStyle/>
                    <a:p>
                      <a:pPr>
                        <a:defRPr sz="1000"/>
                      </a:pPr>
                      <a:r>
                        <a:t>3. Commercial Review</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84%</a:t>
                      </a:r>
                    </a:p>
                  </a:txBody>
                  <a:tcPr/>
                </a:tc>
              </a:tr>
              <a:tr h="347472">
                <a:tc>
                  <a:txBody>
                    <a:bodyPr/>
                    <a:lstStyle/>
                    <a:p>
                      <a:pPr>
                        <a:defRPr sz="1000"/>
                      </a:pPr>
                      <a:r>
                        <a:t>Sec-10</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Stage 10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Continuous Improvement Roadmap - Enterprise Revenue Execution Playboo</a:t>
            </a:r>
          </a:p>
        </p:txBody>
      </p:sp>
      <p:sp>
        <p:nvSpPr>
          <p:cNvPr id="3" name="Content Placeholder 2"/>
          <p:cNvSpPr>
            <a:spLocks noGrp="1"/>
          </p:cNvSpPr>
          <p:nvPr>
            <p:ph idx="1"/>
          </p:nvPr>
        </p:nvSpPr>
        <p:spPr/>
        <p:txBody>
          <a:bodyPr/>
          <a:lstStyle/>
          <a:p>
            <a:r>
              <a:t>Multi-slide enablement deck covering enterprise discovery, MEDDPICC qualification, competitive positioning against Northstar, and deal desk guardrails. Reviewed for current governance cycle. Section 11 (Continuous Improvement Roadmap) applies to Sales Playbooks within Sales &amp; Marketing Knowledge Hub and is maintained by Rachel Kim. Schedules quarterly optimization milestones, automation targets, and capability reviews.</a:t>
            </a:r>
          </a:p>
          <a:p>
            <a:pPr lvl="1"/>
            <a:r>
              <a:t>Details discount approval tiers, multi-year ramp structures, and legal SLA paths.</a:t>
            </a:r>
          </a:p>
          <a:p>
            <a:pPr lvl="1"/>
            <a:r>
              <a:t>Provides stage-by-stage exit criteria from Discovery through Closed-Won.</a:t>
            </a:r>
          </a:p>
          <a:p>
            <a:pPr lvl="1"/>
            <a:r>
              <a:t>Section 11 review cadence is tracked by Rachel Kim under Sales Playbooks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Deal Stage</a:t>
                      </a:r>
                    </a:p>
                  </a:txBody>
                  <a:tcPr/>
                </a:tc>
                <a:tc>
                  <a:txBody>
                    <a:bodyPr/>
                    <a:lstStyle/>
                    <a:p>
                      <a:pPr>
                        <a:defRPr b="1" sz="1100"/>
                      </a:pPr>
                      <a:r>
                        <a:t>Exit Criteria</a:t>
                      </a:r>
                    </a:p>
                  </a:txBody>
                  <a:tcPr/>
                </a:tc>
                <a:tc>
                  <a:txBody>
                    <a:bodyPr/>
                    <a:lstStyle/>
                    <a:p>
                      <a:pPr>
                        <a:defRPr b="1" sz="1100"/>
                      </a:pPr>
                      <a:r>
                        <a:t>Target Duration</a:t>
                      </a:r>
                    </a:p>
                  </a:txBody>
                  <a:tcPr/>
                </a:tc>
                <a:tc>
                  <a:txBody>
                    <a:bodyPr/>
                    <a:lstStyle/>
                    <a:p>
                      <a:pPr>
                        <a:defRPr b="1" sz="1100"/>
                      </a:pPr>
                      <a:r>
                        <a:t>Win Conversion</a:t>
                      </a:r>
                    </a:p>
                  </a:txBody>
                  <a:tcPr/>
                </a:tc>
              </a:tr>
              <a:tr h="347472">
                <a:tc>
                  <a:txBody>
                    <a:bodyPr/>
                    <a:lstStyle/>
                    <a:p>
                      <a:pPr>
                        <a:defRPr sz="1000"/>
                      </a:pPr>
                      <a:r>
                        <a:t>1. Discovery</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42%</a:t>
                      </a:r>
                    </a:p>
                  </a:txBody>
                  <a:tcPr/>
                </a:tc>
              </a:tr>
              <a:tr h="347472">
                <a:tc>
                  <a:txBody>
                    <a:bodyPr/>
                    <a:lstStyle/>
                    <a:p>
                      <a:pPr>
                        <a:defRPr sz="1000"/>
                      </a:pPr>
                      <a:r>
                        <a:t>2. Technical Validation</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68%</a:t>
                      </a:r>
                    </a:p>
                  </a:txBody>
                  <a:tcPr/>
                </a:tc>
              </a:tr>
              <a:tr h="347472">
                <a:tc>
                  <a:txBody>
                    <a:bodyPr/>
                    <a:lstStyle/>
                    <a:p>
                      <a:pPr>
                        <a:defRPr sz="1000"/>
                      </a:pPr>
                      <a:r>
                        <a:t>3. Commercial Review</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84%</a:t>
                      </a:r>
                    </a:p>
                  </a:txBody>
                  <a:tcPr/>
                </a:tc>
              </a:tr>
              <a:tr h="347472">
                <a:tc>
                  <a:txBody>
                    <a:bodyPr/>
                    <a:lstStyle/>
                    <a:p>
                      <a:pPr>
                        <a:defRPr sz="1000"/>
                      </a:pPr>
                      <a:r>
                        <a:t>Sec-11</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Stage 11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Appendix, Lineage &amp; Sign-off - Enterprise Revenue Execution Playboo</a:t>
            </a:r>
          </a:p>
        </p:txBody>
      </p:sp>
      <p:sp>
        <p:nvSpPr>
          <p:cNvPr id="3" name="Content Placeholder 2"/>
          <p:cNvSpPr>
            <a:spLocks noGrp="1"/>
          </p:cNvSpPr>
          <p:nvPr>
            <p:ph idx="1"/>
          </p:nvPr>
        </p:nvSpPr>
        <p:spPr/>
        <p:txBody>
          <a:bodyPr/>
          <a:lstStyle/>
          <a:p>
            <a:r>
              <a:t>Multi-slide enablement deck covering enterprise discovery, MEDDPICC qualification, competitive positioning against Northstar, and deal desk guardrails. Reviewed for current governance cycle. Section 12 (Appendix, Lineage &amp; Sign-off) applies to Sales Playbooks within Sales &amp; Marketing Knowledge Hub and is maintained by Rachel Kim. Records document lineage, governance metadata, version history, and owner sign-off.</a:t>
            </a:r>
          </a:p>
          <a:p>
            <a:pPr lvl="1"/>
            <a:r>
              <a:t>Provides stage-by-stage exit criteria from Discovery through Closed-Won.</a:t>
            </a:r>
          </a:p>
          <a:p>
            <a:pPr lvl="1"/>
            <a:r>
              <a:t>Walks reps through executive value hypothesis and technical evaluation milestones.</a:t>
            </a:r>
          </a:p>
          <a:p>
            <a:pPr lvl="1"/>
            <a:r>
              <a:t>Section 12 review cadence is tracked by Rachel Kim under Sales Playbooks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Deal Stage</a:t>
                      </a:r>
                    </a:p>
                  </a:txBody>
                  <a:tcPr/>
                </a:tc>
                <a:tc>
                  <a:txBody>
                    <a:bodyPr/>
                    <a:lstStyle/>
                    <a:p>
                      <a:pPr>
                        <a:defRPr b="1" sz="1100"/>
                      </a:pPr>
                      <a:r>
                        <a:t>Exit Criteria</a:t>
                      </a:r>
                    </a:p>
                  </a:txBody>
                  <a:tcPr/>
                </a:tc>
                <a:tc>
                  <a:txBody>
                    <a:bodyPr/>
                    <a:lstStyle/>
                    <a:p>
                      <a:pPr>
                        <a:defRPr b="1" sz="1100"/>
                      </a:pPr>
                      <a:r>
                        <a:t>Target Duration</a:t>
                      </a:r>
                    </a:p>
                  </a:txBody>
                  <a:tcPr/>
                </a:tc>
                <a:tc>
                  <a:txBody>
                    <a:bodyPr/>
                    <a:lstStyle/>
                    <a:p>
                      <a:pPr>
                        <a:defRPr b="1" sz="1100"/>
                      </a:pPr>
                      <a:r>
                        <a:t>Win Conversion</a:t>
                      </a:r>
                    </a:p>
                  </a:txBody>
                  <a:tcPr/>
                </a:tc>
              </a:tr>
              <a:tr h="347472">
                <a:tc>
                  <a:txBody>
                    <a:bodyPr/>
                    <a:lstStyle/>
                    <a:p>
                      <a:pPr>
                        <a:defRPr sz="1000"/>
                      </a:pPr>
                      <a:r>
                        <a:t>1. Discovery</a:t>
                      </a:r>
                    </a:p>
                  </a:txBody>
                  <a:tcPr/>
                </a:tc>
                <a:tc>
                  <a:txBody>
                    <a:bodyPr/>
                    <a:lstStyle/>
                    <a:p>
                      <a:pPr>
                        <a:defRPr sz="1000"/>
                      </a:pPr>
                      <a:r>
                        <a:t>Pain + Champion Identified</a:t>
                      </a:r>
                    </a:p>
                  </a:txBody>
                  <a:tcPr/>
                </a:tc>
                <a:tc>
                  <a:txBody>
                    <a:bodyPr/>
                    <a:lstStyle/>
                    <a:p>
                      <a:pPr>
                        <a:defRPr sz="1000"/>
                      </a:pPr>
                      <a:r>
                        <a:t>14 days</a:t>
                      </a:r>
                    </a:p>
                  </a:txBody>
                  <a:tcPr/>
                </a:tc>
                <a:tc>
                  <a:txBody>
                    <a:bodyPr/>
                    <a:lstStyle/>
                    <a:p>
                      <a:pPr>
                        <a:defRPr sz="1000"/>
                      </a:pPr>
                      <a:r>
                        <a:t>42%</a:t>
                      </a:r>
                    </a:p>
                  </a:txBody>
                  <a:tcPr/>
                </a:tc>
              </a:tr>
              <a:tr h="347472">
                <a:tc>
                  <a:txBody>
                    <a:bodyPr/>
                    <a:lstStyle/>
                    <a:p>
                      <a:pPr>
                        <a:defRPr sz="1000"/>
                      </a:pPr>
                      <a:r>
                        <a:t>2. Technical Validation</a:t>
                      </a:r>
                    </a:p>
                  </a:txBody>
                  <a:tcPr/>
                </a:tc>
                <a:tc>
                  <a:txBody>
                    <a:bodyPr/>
                    <a:lstStyle/>
                    <a:p>
                      <a:pPr>
                        <a:defRPr sz="1000"/>
                      </a:pPr>
                      <a:r>
                        <a:t>POC Success Criteria Met</a:t>
                      </a:r>
                    </a:p>
                  </a:txBody>
                  <a:tcPr/>
                </a:tc>
                <a:tc>
                  <a:txBody>
                    <a:bodyPr/>
                    <a:lstStyle/>
                    <a:p>
                      <a:pPr>
                        <a:defRPr sz="1000"/>
                      </a:pPr>
                      <a:r>
                        <a:t>21 days</a:t>
                      </a:r>
                    </a:p>
                  </a:txBody>
                  <a:tcPr/>
                </a:tc>
                <a:tc>
                  <a:txBody>
                    <a:bodyPr/>
                    <a:lstStyle/>
                    <a:p>
                      <a:pPr>
                        <a:defRPr sz="1000"/>
                      </a:pPr>
                      <a:r>
                        <a:t>68%</a:t>
                      </a:r>
                    </a:p>
                  </a:txBody>
                  <a:tcPr/>
                </a:tc>
              </a:tr>
              <a:tr h="347472">
                <a:tc>
                  <a:txBody>
                    <a:bodyPr/>
                    <a:lstStyle/>
                    <a:p>
                      <a:pPr>
                        <a:defRPr sz="1000"/>
                      </a:pPr>
                      <a:r>
                        <a:t>3. Commercial Review</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84%</a:t>
                      </a:r>
                    </a:p>
                  </a:txBody>
                  <a:tcPr/>
                </a:tc>
              </a:tr>
              <a:tr h="347472">
                <a:tc>
                  <a:txBody>
                    <a:bodyPr/>
                    <a:lstStyle/>
                    <a:p>
                      <a:pPr>
                        <a:defRPr sz="1000"/>
                      </a:pPr>
                      <a:r>
                        <a:t>Sec-12</a:t>
                      </a:r>
                    </a:p>
                  </a:txBody>
                  <a:tcPr/>
                </a:tc>
                <a:tc>
                  <a:txBody>
                    <a:bodyPr/>
                    <a:lstStyle/>
                    <a:p>
                      <a:pPr>
                        <a:defRPr sz="1000"/>
                      </a:pPr>
                      <a:r>
                        <a:t>Economic Buyer + Deal Desk Sign-off</a:t>
                      </a:r>
                    </a:p>
                  </a:txBody>
                  <a:tcPr/>
                </a:tc>
                <a:tc>
                  <a:txBody>
                    <a:bodyPr/>
                    <a:lstStyle/>
                    <a:p>
                      <a:pPr>
                        <a:defRPr sz="1000"/>
                      </a:pPr>
                      <a:r>
                        <a:t>10 days</a:t>
                      </a:r>
                    </a:p>
                  </a:txBody>
                  <a:tcPr/>
                </a:tc>
                <a:tc>
                  <a:txBody>
                    <a:bodyPr/>
                    <a:lstStyle/>
                    <a:p>
                      <a:pPr>
                        <a:defRPr sz="1000"/>
                      </a:pPr>
                      <a:r>
                        <a:t>Stage 12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