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Executive Summary &amp; Scope - Yield Improvement Project Charter - </a:t>
            </a:r>
          </a:p>
        </p:txBody>
      </p:sp>
      <p:sp>
        <p:nvSpPr>
          <p:cNvPr id="3" name="Content Placeholder 2"/>
          <p:cNvSpPr>
            <a:spLocks noGrp="1"/>
          </p:cNvSpPr>
          <p:nvPr>
            <p:ph idx="1"/>
          </p:nvPr>
        </p:nvSpPr>
        <p:spPr/>
        <p:txBody>
          <a:bodyPr/>
          <a:lstStyle/>
          <a:p>
            <a:r>
              <a:t>Project charter kicking off a yield improvement initiative targeting the top three defect categories on Line 3. Section 1 (Executive Summary &amp; Scope) applies to Process Engineering within Manufacturing Knowledge Hub and is maintained by Carlos Ibarra. Defines the operational charter, scope boundaries, and executive accountability.</a:t>
            </a:r>
          </a:p>
          <a:p>
            <a:pPr lvl="1"/>
            <a:r>
              <a:t>Baseline first-pass yield is 91.4%, target is 95% within two quarters.</a:t>
            </a:r>
          </a:p>
          <a:p>
            <a:pPr lvl="1"/>
            <a:r>
              <a:t>Top defect categories are seal leaks, label misalignment, and torque out-of-spec.</a:t>
            </a:r>
          </a:p>
          <a:p>
            <a:pPr lvl="1"/>
            <a:r>
              <a:t>Section 1 review cadence is tracked by Carlos Ibarra under Process Engineering governance.</a:t>
            </a:r>
          </a:p>
        </p:txBody>
      </p:sp>
      <p:graphicFrame>
        <p:nvGraphicFramePr>
          <p:cNvPr id="4" name="Table 3"/>
          <p:cNvGraphicFramePr>
            <a:graphicFrameLocks noGrp="1"/>
          </p:cNvGraphicFramePr>
          <p:nvPr/>
        </p:nvGraphicFramePr>
        <p:xfrm>
          <a:off x="548640" y="3749039"/>
          <a:ext cx="5669280" cy="1389888"/>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Process Engineering</a:t>
                      </a:r>
                    </a:p>
                  </a:txBody>
                  <a:tcPr/>
                </a:tc>
                <a:tc>
                  <a:txBody>
                    <a:bodyPr/>
                    <a:lstStyle/>
                    <a:p>
                      <a:pPr>
                        <a:defRPr sz="1000"/>
                      </a:pPr>
                      <a:r>
                        <a:t>Carlos Ibarra</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Yield Improvement Project Ch Gate 1</a:t>
                      </a:r>
                    </a:p>
                  </a:txBody>
                  <a:tcPr/>
                </a:tc>
                <a:tc>
                  <a:txBody>
                    <a:bodyPr/>
                    <a:lstStyle/>
                    <a:p>
                      <a:pPr>
                        <a:defRPr sz="1000"/>
                      </a:pPr>
                      <a:r>
                        <a:t>Carlos Ibarra</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Yield Improvement Project Ch Gate 2</a:t>
                      </a:r>
                    </a:p>
                  </a:txBody>
                  <a:tcPr/>
                </a:tc>
                <a:tc>
                  <a:txBody>
                    <a:bodyPr/>
                    <a:lstStyle/>
                    <a:p>
                      <a:pPr>
                        <a:defRPr sz="1000"/>
                      </a:pPr>
                      <a:r>
                        <a:t>Carlos Ibarra</a:t>
                      </a:r>
                    </a:p>
                  </a:txBody>
                  <a:tcPr/>
                </a:tc>
                <a:tc>
                  <a:txBody>
                    <a:bodyPr/>
                    <a:lstStyle/>
                    <a:p>
                      <a:pPr>
                        <a:defRPr sz="1000"/>
                      </a:pPr>
                      <a:r>
                        <a:t>10 business days</a:t>
                      </a:r>
                    </a:p>
                  </a:txBody>
                  <a:tcPr/>
                </a:tc>
                <a:tc>
                  <a:txBody>
                    <a:bodyPr/>
                    <a:lstStyle/>
                    <a:p>
                      <a:pPr>
                        <a:defRPr sz="1000"/>
                      </a:pPr>
                      <a:r>
                        <a:t>Monitored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Architecture &amp; Process Flow - Yield Improvement Project Charter - </a:t>
            </a:r>
          </a:p>
        </p:txBody>
      </p:sp>
      <p:sp>
        <p:nvSpPr>
          <p:cNvPr id="3" name="Content Placeholder 2"/>
          <p:cNvSpPr>
            <a:spLocks noGrp="1"/>
          </p:cNvSpPr>
          <p:nvPr>
            <p:ph idx="1"/>
          </p:nvPr>
        </p:nvSpPr>
        <p:spPr/>
        <p:txBody>
          <a:bodyPr/>
          <a:lstStyle/>
          <a:p>
            <a:r>
              <a:t>Project charter kicking off a yield improvement initiative targeting the top three defect categories on Line 3. Section 2 (Architecture &amp; Process Flow) applies to Process Engineering within Manufacturing Knowledge Hub and is maintained by Carlos Ibarra. Maps end-to-end process stages, handoff gates, and system-of-record integrations.</a:t>
            </a:r>
          </a:p>
          <a:p>
            <a:pPr lvl="1"/>
            <a:r>
              <a:t>Top defect categories are seal leaks, label misalignment, and torque out-of-spec.</a:t>
            </a:r>
          </a:p>
          <a:p>
            <a:pPr lvl="1"/>
            <a:r>
              <a:t>Cross-functional team includes quality, process engineering, and production supervisors.</a:t>
            </a:r>
          </a:p>
          <a:p>
            <a:pPr lvl="1"/>
            <a:r>
              <a:t>Section 2 review cadence is tracked by Carlos Ibarra under Process Engineering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Process Engineering</a:t>
                      </a:r>
                    </a:p>
                  </a:txBody>
                  <a:tcPr/>
                </a:tc>
                <a:tc>
                  <a:txBody>
                    <a:bodyPr/>
                    <a:lstStyle/>
                    <a:p>
                      <a:pPr>
                        <a:defRPr sz="1000"/>
                      </a:pPr>
                      <a:r>
                        <a:t>Carlos Ibarra</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Yield Improvement Project Ch Gate 1</a:t>
                      </a:r>
                    </a:p>
                  </a:txBody>
                  <a:tcPr/>
                </a:tc>
                <a:tc>
                  <a:txBody>
                    <a:bodyPr/>
                    <a:lstStyle/>
                    <a:p>
                      <a:pPr>
                        <a:defRPr sz="1000"/>
                      </a:pPr>
                      <a:r>
                        <a:t>Carlos Ibarra</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Yield Improvement Project Ch Gate 2</a:t>
                      </a:r>
                    </a:p>
                  </a:txBody>
                  <a:tcPr/>
                </a:tc>
                <a:tc>
                  <a:txBody>
                    <a:bodyPr/>
                    <a:lstStyle/>
                    <a:p>
                      <a:pPr>
                        <a:defRPr sz="1000"/>
                      </a:pPr>
                      <a:r>
                        <a:t>Carlos Ibarra</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Sec-2</a:t>
                      </a:r>
                    </a:p>
                  </a:txBody>
                  <a:tcPr/>
                </a:tc>
                <a:tc>
                  <a:txBody>
                    <a:bodyPr/>
                    <a:lstStyle/>
                    <a:p>
                      <a:pPr>
                        <a:defRPr sz="1000"/>
                      </a:pPr>
                      <a:r>
                        <a:t>Carlos Ibarra</a:t>
                      </a:r>
                    </a:p>
                  </a:txBody>
                  <a:tcPr/>
                </a:tc>
                <a:tc>
                  <a:txBody>
                    <a:bodyPr/>
                    <a:lstStyle/>
                    <a:p>
                      <a:pPr>
                        <a:defRPr sz="1000"/>
                      </a:pPr>
                      <a:r>
                        <a:t>3 business days</a:t>
                      </a:r>
                    </a:p>
                  </a:txBody>
                  <a:tcPr/>
                </a:tc>
                <a:tc>
                  <a:txBody>
                    <a:bodyPr/>
                    <a:lstStyle/>
                    <a:p>
                      <a:pPr>
                        <a:defRPr sz="1000"/>
                      </a:pPr>
                      <a:r>
                        <a:t>Stage 2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Governance Standards &amp; Controls - Yield Improvement Project Charter - </a:t>
            </a:r>
          </a:p>
        </p:txBody>
      </p:sp>
      <p:sp>
        <p:nvSpPr>
          <p:cNvPr id="3" name="Content Placeholder 2"/>
          <p:cNvSpPr>
            <a:spLocks noGrp="1"/>
          </p:cNvSpPr>
          <p:nvPr>
            <p:ph idx="1"/>
          </p:nvPr>
        </p:nvSpPr>
        <p:spPr/>
        <p:txBody>
          <a:bodyPr/>
          <a:lstStyle/>
          <a:p>
            <a:r>
              <a:t>Project charter kicking off a yield improvement initiative targeting the top three defect categories on Line 3. Section 3 (Governance Standards &amp; Controls) applies to Process Engineering within Manufacturing Knowledge Hub and is maintained by Carlos Ibarra. Establishes mandatory compliance controls, approval thresholds, and audit evidence.</a:t>
            </a:r>
          </a:p>
          <a:p>
            <a:pPr lvl="1"/>
            <a:r>
              <a:t>Cross-functional team includes quality, process engineering, and production supervisors.</a:t>
            </a:r>
          </a:p>
          <a:p>
            <a:pPr lvl="1"/>
            <a:r>
              <a:t>Weekly tollgate reviews track progress against the yield improvement roadmap.</a:t>
            </a:r>
          </a:p>
          <a:p>
            <a:pPr lvl="1"/>
            <a:r>
              <a:t>Section 3 review cadence is tracked by Carlos Ibarra under Process Engineering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Process Engineering</a:t>
                      </a:r>
                    </a:p>
                  </a:txBody>
                  <a:tcPr/>
                </a:tc>
                <a:tc>
                  <a:txBody>
                    <a:bodyPr/>
                    <a:lstStyle/>
                    <a:p>
                      <a:pPr>
                        <a:defRPr sz="1000"/>
                      </a:pPr>
                      <a:r>
                        <a:t>Carlos Ibarra</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Yield Improvement Project Ch Gate 1</a:t>
                      </a:r>
                    </a:p>
                  </a:txBody>
                  <a:tcPr/>
                </a:tc>
                <a:tc>
                  <a:txBody>
                    <a:bodyPr/>
                    <a:lstStyle/>
                    <a:p>
                      <a:pPr>
                        <a:defRPr sz="1000"/>
                      </a:pPr>
                      <a:r>
                        <a:t>Carlos Ibarra</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Yield Improvement Project Ch Gate 2</a:t>
                      </a:r>
                    </a:p>
                  </a:txBody>
                  <a:tcPr/>
                </a:tc>
                <a:tc>
                  <a:txBody>
                    <a:bodyPr/>
                    <a:lstStyle/>
                    <a:p>
                      <a:pPr>
                        <a:defRPr sz="1000"/>
                      </a:pPr>
                      <a:r>
                        <a:t>Carlos Ibarra</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Sec-3</a:t>
                      </a:r>
                    </a:p>
                  </a:txBody>
                  <a:tcPr/>
                </a:tc>
                <a:tc>
                  <a:txBody>
                    <a:bodyPr/>
                    <a:lstStyle/>
                    <a:p>
                      <a:pPr>
                        <a:defRPr sz="1000"/>
                      </a:pPr>
                      <a:r>
                        <a:t>Carlos Ibarra</a:t>
                      </a:r>
                    </a:p>
                  </a:txBody>
                  <a:tcPr/>
                </a:tc>
                <a:tc>
                  <a:txBody>
                    <a:bodyPr/>
                    <a:lstStyle/>
                    <a:p>
                      <a:pPr>
                        <a:defRPr sz="1000"/>
                      </a:pPr>
                      <a:r>
                        <a:t>10 business days</a:t>
                      </a:r>
                    </a:p>
                  </a:txBody>
                  <a:tcPr/>
                </a:tc>
                <a:tc>
                  <a:txBody>
                    <a:bodyPr/>
                    <a:lstStyle/>
                    <a:p>
                      <a:pPr>
                        <a:defRPr sz="1000"/>
                      </a:pPr>
                      <a:r>
                        <a:t>Stage 3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Operational KPIs &amp; Benchmarks - Yield Improvement Project Charter - </a:t>
            </a:r>
          </a:p>
        </p:txBody>
      </p:sp>
      <p:sp>
        <p:nvSpPr>
          <p:cNvPr id="3" name="Content Placeholder 2"/>
          <p:cNvSpPr>
            <a:spLocks noGrp="1"/>
          </p:cNvSpPr>
          <p:nvPr>
            <p:ph idx="1"/>
          </p:nvPr>
        </p:nvSpPr>
        <p:spPr/>
        <p:txBody>
          <a:bodyPr/>
          <a:lstStyle/>
          <a:p>
            <a:r>
              <a:t>Project charter kicking off a yield improvement initiative targeting the top three defect categories on Line 3. Section 4 (Operational KPIs &amp; Benchmarks) applies to Process Engineering within Manufacturing Knowledge Hub and is maintained by Carlos Ibarra. Tracks baseline performance, target SLAs, and quarterly benchmark progression.</a:t>
            </a:r>
          </a:p>
          <a:p>
            <a:pPr lvl="1"/>
            <a:r>
              <a:t>Weekly tollgate reviews track progress against the yield improvement roadmap.</a:t>
            </a:r>
          </a:p>
          <a:p>
            <a:pPr lvl="1"/>
            <a:r>
              <a:t>Baseline first-pass yield is 91.4%, target is 95% within two quarters.</a:t>
            </a:r>
          </a:p>
          <a:p>
            <a:pPr lvl="1"/>
            <a:r>
              <a:t>Section 4 review cadence is tracked by Carlos Ibarra under Process Engineering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Process Engineering</a:t>
                      </a:r>
                    </a:p>
                  </a:txBody>
                  <a:tcPr/>
                </a:tc>
                <a:tc>
                  <a:txBody>
                    <a:bodyPr/>
                    <a:lstStyle/>
                    <a:p>
                      <a:pPr>
                        <a:defRPr sz="1000"/>
                      </a:pPr>
                      <a:r>
                        <a:t>Carlos Ibarra</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Yield Improvement Project Ch Gate 1</a:t>
                      </a:r>
                    </a:p>
                  </a:txBody>
                  <a:tcPr/>
                </a:tc>
                <a:tc>
                  <a:txBody>
                    <a:bodyPr/>
                    <a:lstStyle/>
                    <a:p>
                      <a:pPr>
                        <a:defRPr sz="1000"/>
                      </a:pPr>
                      <a:r>
                        <a:t>Carlos Ibarra</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Yield Improvement Project Ch Gate 2</a:t>
                      </a:r>
                    </a:p>
                  </a:txBody>
                  <a:tcPr/>
                </a:tc>
                <a:tc>
                  <a:txBody>
                    <a:bodyPr/>
                    <a:lstStyle/>
                    <a:p>
                      <a:pPr>
                        <a:defRPr sz="1000"/>
                      </a:pPr>
                      <a:r>
                        <a:t>Carlos Ibarra</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Sec-4</a:t>
                      </a:r>
                    </a:p>
                  </a:txBody>
                  <a:tcPr/>
                </a:tc>
                <a:tc>
                  <a:txBody>
                    <a:bodyPr/>
                    <a:lstStyle/>
                    <a:p>
                      <a:pPr>
                        <a:defRPr sz="1000"/>
                      </a:pPr>
                      <a:r>
                        <a:t>Carlos Ibarra</a:t>
                      </a:r>
                    </a:p>
                  </a:txBody>
                  <a:tcPr/>
                </a:tc>
                <a:tc>
                  <a:txBody>
                    <a:bodyPr/>
                    <a:lstStyle/>
                    <a:p>
                      <a:pPr>
                        <a:defRPr sz="1000"/>
                      </a:pPr>
                      <a:r>
                        <a:t>5 business days</a:t>
                      </a:r>
                    </a:p>
                  </a:txBody>
                  <a:tcPr/>
                </a:tc>
                <a:tc>
                  <a:txBody>
                    <a:bodyPr/>
                    <a:lstStyle/>
                    <a:p>
                      <a:pPr>
                        <a:defRPr sz="1000"/>
                      </a:pPr>
                      <a:r>
                        <a:t>Stage 4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Roles, Responsibilities &amp; RACI - Yield Improvement Project Charter - </a:t>
            </a:r>
          </a:p>
        </p:txBody>
      </p:sp>
      <p:sp>
        <p:nvSpPr>
          <p:cNvPr id="3" name="Content Placeholder 2"/>
          <p:cNvSpPr>
            <a:spLocks noGrp="1"/>
          </p:cNvSpPr>
          <p:nvPr>
            <p:ph idx="1"/>
          </p:nvPr>
        </p:nvSpPr>
        <p:spPr/>
        <p:txBody>
          <a:bodyPr/>
          <a:lstStyle/>
          <a:p>
            <a:r>
              <a:t>Project charter kicking off a yield improvement initiative targeting the top three defect categories on Line 3. Section 5 (Roles, Responsibilities &amp; RACI) applies to Process Engineering within Manufacturing Knowledge Hub and is maintained by Carlos Ibarra. Clarifies ownership across accountable executives, operational leads, and reviewers.</a:t>
            </a:r>
          </a:p>
          <a:p>
            <a:pPr lvl="1"/>
            <a:r>
              <a:t>Baseline first-pass yield is 91.4%, target is 95% within two quarters.</a:t>
            </a:r>
          </a:p>
          <a:p>
            <a:pPr lvl="1"/>
            <a:r>
              <a:t>Top defect categories are seal leaks, label misalignment, and torque out-of-spec.</a:t>
            </a:r>
          </a:p>
          <a:p>
            <a:pPr lvl="1"/>
            <a:r>
              <a:t>Section 5 review cadence is tracked by Carlos Ibarra under Process Engineering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Process Engineering</a:t>
                      </a:r>
                    </a:p>
                  </a:txBody>
                  <a:tcPr/>
                </a:tc>
                <a:tc>
                  <a:txBody>
                    <a:bodyPr/>
                    <a:lstStyle/>
                    <a:p>
                      <a:pPr>
                        <a:defRPr sz="1000"/>
                      </a:pPr>
                      <a:r>
                        <a:t>Carlos Ibarra</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Yield Improvement Project Ch Gate 1</a:t>
                      </a:r>
                    </a:p>
                  </a:txBody>
                  <a:tcPr/>
                </a:tc>
                <a:tc>
                  <a:txBody>
                    <a:bodyPr/>
                    <a:lstStyle/>
                    <a:p>
                      <a:pPr>
                        <a:defRPr sz="1000"/>
                      </a:pPr>
                      <a:r>
                        <a:t>Carlos Ibarra</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Yield Improvement Project Ch Gate 2</a:t>
                      </a:r>
                    </a:p>
                  </a:txBody>
                  <a:tcPr/>
                </a:tc>
                <a:tc>
                  <a:txBody>
                    <a:bodyPr/>
                    <a:lstStyle/>
                    <a:p>
                      <a:pPr>
                        <a:defRPr sz="1000"/>
                      </a:pPr>
                      <a:r>
                        <a:t>Carlos Ibarra</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Sec-5</a:t>
                      </a:r>
                    </a:p>
                  </a:txBody>
                  <a:tcPr/>
                </a:tc>
                <a:tc>
                  <a:txBody>
                    <a:bodyPr/>
                    <a:lstStyle/>
                    <a:p>
                      <a:pPr>
                        <a:defRPr sz="1000"/>
                      </a:pPr>
                      <a:r>
                        <a:t>Carlos Ibarra</a:t>
                      </a:r>
                    </a:p>
                  </a:txBody>
                  <a:tcPr/>
                </a:tc>
                <a:tc>
                  <a:txBody>
                    <a:bodyPr/>
                    <a:lstStyle/>
                    <a:p>
                      <a:pPr>
                        <a:defRPr sz="1000"/>
                      </a:pPr>
                      <a:r>
                        <a:t>3 business days</a:t>
                      </a:r>
                    </a:p>
                  </a:txBody>
                  <a:tcPr/>
                </a:tc>
                <a:tc>
                  <a:txBody>
                    <a:bodyPr/>
                    <a:lstStyle/>
                    <a:p>
                      <a:pPr>
                        <a:defRPr sz="1000"/>
                      </a:pPr>
                      <a:r>
                        <a:t>Stage 5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Standard Operating Procedures - Yield Improvement Project Charter - </a:t>
            </a:r>
          </a:p>
        </p:txBody>
      </p:sp>
      <p:sp>
        <p:nvSpPr>
          <p:cNvPr id="3" name="Content Placeholder 2"/>
          <p:cNvSpPr>
            <a:spLocks noGrp="1"/>
          </p:cNvSpPr>
          <p:nvPr>
            <p:ph idx="1"/>
          </p:nvPr>
        </p:nvSpPr>
        <p:spPr/>
        <p:txBody>
          <a:bodyPr/>
          <a:lstStyle/>
          <a:p>
            <a:r>
              <a:t>Project charter kicking off a yield improvement initiative targeting the top three defect categories on Line 3. Section 6 (Standard Operating Procedures) applies to Process Engineering within Manufacturing Knowledge Hub and is maintained by Carlos Ibarra. Provides step-by-step execution checklists, intake criteria, and verification gates.</a:t>
            </a:r>
          </a:p>
          <a:p>
            <a:pPr lvl="1"/>
            <a:r>
              <a:t>Top defect categories are seal leaks, label misalignment, and torque out-of-spec.</a:t>
            </a:r>
          </a:p>
          <a:p>
            <a:pPr lvl="1"/>
            <a:r>
              <a:t>Cross-functional team includes quality, process engineering, and production supervisors.</a:t>
            </a:r>
          </a:p>
          <a:p>
            <a:pPr lvl="1"/>
            <a:r>
              <a:t>Section 6 review cadence is tracked by Carlos Ibarra under Process Engineering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Process Engineering</a:t>
                      </a:r>
                    </a:p>
                  </a:txBody>
                  <a:tcPr/>
                </a:tc>
                <a:tc>
                  <a:txBody>
                    <a:bodyPr/>
                    <a:lstStyle/>
                    <a:p>
                      <a:pPr>
                        <a:defRPr sz="1000"/>
                      </a:pPr>
                      <a:r>
                        <a:t>Carlos Ibarra</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Yield Improvement Project Ch Gate 1</a:t>
                      </a:r>
                    </a:p>
                  </a:txBody>
                  <a:tcPr/>
                </a:tc>
                <a:tc>
                  <a:txBody>
                    <a:bodyPr/>
                    <a:lstStyle/>
                    <a:p>
                      <a:pPr>
                        <a:defRPr sz="1000"/>
                      </a:pPr>
                      <a:r>
                        <a:t>Carlos Ibarra</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Yield Improvement Project Ch Gate 2</a:t>
                      </a:r>
                    </a:p>
                  </a:txBody>
                  <a:tcPr/>
                </a:tc>
                <a:tc>
                  <a:txBody>
                    <a:bodyPr/>
                    <a:lstStyle/>
                    <a:p>
                      <a:pPr>
                        <a:defRPr sz="1000"/>
                      </a:pPr>
                      <a:r>
                        <a:t>Carlos Ibarra</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Sec-6</a:t>
                      </a:r>
                    </a:p>
                  </a:txBody>
                  <a:tcPr/>
                </a:tc>
                <a:tc>
                  <a:txBody>
                    <a:bodyPr/>
                    <a:lstStyle/>
                    <a:p>
                      <a:pPr>
                        <a:defRPr sz="1000"/>
                      </a:pPr>
                      <a:r>
                        <a:t>Carlos Ibarra</a:t>
                      </a:r>
                    </a:p>
                  </a:txBody>
                  <a:tcPr/>
                </a:tc>
                <a:tc>
                  <a:txBody>
                    <a:bodyPr/>
                    <a:lstStyle/>
                    <a:p>
                      <a:pPr>
                        <a:defRPr sz="1000"/>
                      </a:pPr>
                      <a:r>
                        <a:t>10 business days</a:t>
                      </a:r>
                    </a:p>
                  </a:txBody>
                  <a:tcPr/>
                </a:tc>
                <a:tc>
                  <a:txBody>
                    <a:bodyPr/>
                    <a:lstStyle/>
                    <a:p>
                      <a:pPr>
                        <a:defRPr sz="1000"/>
                      </a:pPr>
                      <a:r>
                        <a:t>Stage 6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Risk Register &amp; Mitigations - Yield Improvement Project Charter - </a:t>
            </a:r>
          </a:p>
        </p:txBody>
      </p:sp>
      <p:sp>
        <p:nvSpPr>
          <p:cNvPr id="3" name="Content Placeholder 2"/>
          <p:cNvSpPr>
            <a:spLocks noGrp="1"/>
          </p:cNvSpPr>
          <p:nvPr>
            <p:ph idx="1"/>
          </p:nvPr>
        </p:nvSpPr>
        <p:spPr/>
        <p:txBody>
          <a:bodyPr/>
          <a:lstStyle/>
          <a:p>
            <a:r>
              <a:t>Project charter kicking off a yield improvement initiative targeting the top three defect categories on Line 3. Section 7 (Risk Register &amp; Mitigations) applies to Process Engineering within Manufacturing Knowledge Hub and is maintained by Carlos Ibarra. Catalogs operational, compliance, and delivery risks alongside preventive mitigations.</a:t>
            </a:r>
          </a:p>
          <a:p>
            <a:pPr lvl="1"/>
            <a:r>
              <a:t>Cross-functional team includes quality, process engineering, and production supervisors.</a:t>
            </a:r>
          </a:p>
          <a:p>
            <a:pPr lvl="1"/>
            <a:r>
              <a:t>Weekly tollgate reviews track progress against the yield improvement roadmap.</a:t>
            </a:r>
          </a:p>
          <a:p>
            <a:pPr lvl="1"/>
            <a:r>
              <a:t>Section 7 review cadence is tracked by Carlos Ibarra under Process Engineering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Process Engineering</a:t>
                      </a:r>
                    </a:p>
                  </a:txBody>
                  <a:tcPr/>
                </a:tc>
                <a:tc>
                  <a:txBody>
                    <a:bodyPr/>
                    <a:lstStyle/>
                    <a:p>
                      <a:pPr>
                        <a:defRPr sz="1000"/>
                      </a:pPr>
                      <a:r>
                        <a:t>Carlos Ibarra</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Yield Improvement Project Ch Gate 1</a:t>
                      </a:r>
                    </a:p>
                  </a:txBody>
                  <a:tcPr/>
                </a:tc>
                <a:tc>
                  <a:txBody>
                    <a:bodyPr/>
                    <a:lstStyle/>
                    <a:p>
                      <a:pPr>
                        <a:defRPr sz="1000"/>
                      </a:pPr>
                      <a:r>
                        <a:t>Carlos Ibarra</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Yield Improvement Project Ch Gate 2</a:t>
                      </a:r>
                    </a:p>
                  </a:txBody>
                  <a:tcPr/>
                </a:tc>
                <a:tc>
                  <a:txBody>
                    <a:bodyPr/>
                    <a:lstStyle/>
                    <a:p>
                      <a:pPr>
                        <a:defRPr sz="1000"/>
                      </a:pPr>
                      <a:r>
                        <a:t>Carlos Ibarra</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Sec-7</a:t>
                      </a:r>
                    </a:p>
                  </a:txBody>
                  <a:tcPr/>
                </a:tc>
                <a:tc>
                  <a:txBody>
                    <a:bodyPr/>
                    <a:lstStyle/>
                    <a:p>
                      <a:pPr>
                        <a:defRPr sz="1000"/>
                      </a:pPr>
                      <a:r>
                        <a:t>Carlos Ibarra</a:t>
                      </a:r>
                    </a:p>
                  </a:txBody>
                  <a:tcPr/>
                </a:tc>
                <a:tc>
                  <a:txBody>
                    <a:bodyPr/>
                    <a:lstStyle/>
                    <a:p>
                      <a:pPr>
                        <a:defRPr sz="1000"/>
                      </a:pPr>
                      <a:r>
                        <a:t>5 business days</a:t>
                      </a:r>
                    </a:p>
                  </a:txBody>
                  <a:tcPr/>
                </a:tc>
                <a:tc>
                  <a:txBody>
                    <a:bodyPr/>
                    <a:lstStyle/>
                    <a:p>
                      <a:pPr>
                        <a:defRPr sz="1000"/>
                      </a:pPr>
                      <a:r>
                        <a:t>Stage 7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Quality Assurance &amp; Audits - Yield Improvement Project Charter - </a:t>
            </a:r>
          </a:p>
        </p:txBody>
      </p:sp>
      <p:sp>
        <p:nvSpPr>
          <p:cNvPr id="3" name="Content Placeholder 2"/>
          <p:cNvSpPr>
            <a:spLocks noGrp="1"/>
          </p:cNvSpPr>
          <p:nvPr>
            <p:ph idx="1"/>
          </p:nvPr>
        </p:nvSpPr>
        <p:spPr/>
        <p:txBody>
          <a:bodyPr/>
          <a:lstStyle/>
          <a:p>
            <a:r>
              <a:t>Project charter kicking off a yield improvement initiative targeting the top three defect categories on Line 3. Section 8 (Quality Assurance &amp; Audits) applies to Process Engineering within Manufacturing Knowledge Hub and is maintained by Carlos Ibarra. Specifies sampling frequencies, inspection tolerances, and nonconformance workflows.</a:t>
            </a:r>
          </a:p>
          <a:p>
            <a:pPr lvl="1"/>
            <a:r>
              <a:t>Weekly tollgate reviews track progress against the yield improvement roadmap.</a:t>
            </a:r>
          </a:p>
          <a:p>
            <a:pPr lvl="1"/>
            <a:r>
              <a:t>Baseline first-pass yield is 91.4%, target is 95% within two quarters.</a:t>
            </a:r>
          </a:p>
          <a:p>
            <a:pPr lvl="1"/>
            <a:r>
              <a:t>Section 8 review cadence is tracked by Carlos Ibarra under Process Engineering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Process Engineering</a:t>
                      </a:r>
                    </a:p>
                  </a:txBody>
                  <a:tcPr/>
                </a:tc>
                <a:tc>
                  <a:txBody>
                    <a:bodyPr/>
                    <a:lstStyle/>
                    <a:p>
                      <a:pPr>
                        <a:defRPr sz="1000"/>
                      </a:pPr>
                      <a:r>
                        <a:t>Carlos Ibarra</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Yield Improvement Project Ch Gate 1</a:t>
                      </a:r>
                    </a:p>
                  </a:txBody>
                  <a:tcPr/>
                </a:tc>
                <a:tc>
                  <a:txBody>
                    <a:bodyPr/>
                    <a:lstStyle/>
                    <a:p>
                      <a:pPr>
                        <a:defRPr sz="1000"/>
                      </a:pPr>
                      <a:r>
                        <a:t>Carlos Ibarra</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Yield Improvement Project Ch Gate 2</a:t>
                      </a:r>
                    </a:p>
                  </a:txBody>
                  <a:tcPr/>
                </a:tc>
                <a:tc>
                  <a:txBody>
                    <a:bodyPr/>
                    <a:lstStyle/>
                    <a:p>
                      <a:pPr>
                        <a:defRPr sz="1000"/>
                      </a:pPr>
                      <a:r>
                        <a:t>Carlos Ibarra</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Sec-8</a:t>
                      </a:r>
                    </a:p>
                  </a:txBody>
                  <a:tcPr/>
                </a:tc>
                <a:tc>
                  <a:txBody>
                    <a:bodyPr/>
                    <a:lstStyle/>
                    <a:p>
                      <a:pPr>
                        <a:defRPr sz="1000"/>
                      </a:pPr>
                      <a:r>
                        <a:t>Carlos Ibarra</a:t>
                      </a:r>
                    </a:p>
                  </a:txBody>
                  <a:tcPr/>
                </a:tc>
                <a:tc>
                  <a:txBody>
                    <a:bodyPr/>
                    <a:lstStyle/>
                    <a:p>
                      <a:pPr>
                        <a:defRPr sz="1000"/>
                      </a:pPr>
                      <a:r>
                        <a:t>3 business days</a:t>
                      </a:r>
                    </a:p>
                  </a:txBody>
                  <a:tcPr/>
                </a:tc>
                <a:tc>
                  <a:txBody>
                    <a:bodyPr/>
                    <a:lstStyle/>
                    <a:p>
                      <a:pPr>
                        <a:defRPr sz="1000"/>
                      </a:pPr>
                      <a:r>
                        <a:t>Stage 8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Exception Handling &amp; Escalations - Yield Improvement Project Charter - </a:t>
            </a:r>
          </a:p>
        </p:txBody>
      </p:sp>
      <p:sp>
        <p:nvSpPr>
          <p:cNvPr id="3" name="Content Placeholder 2"/>
          <p:cNvSpPr>
            <a:spLocks noGrp="1"/>
          </p:cNvSpPr>
          <p:nvPr>
            <p:ph idx="1"/>
          </p:nvPr>
        </p:nvSpPr>
        <p:spPr/>
        <p:txBody>
          <a:bodyPr/>
          <a:lstStyle/>
          <a:p>
            <a:r>
              <a:t>Project charter kicking off a yield improvement initiative targeting the top three defect categories on Line 3. Section 9 (Exception Handling &amp; Escalations) applies to Process Engineering within Manufacturing Knowledge Hub and is maintained by Carlos Ibarra. Outlines severity tiers, response SLAs, and cross-functional escalation paths.</a:t>
            </a:r>
          </a:p>
          <a:p>
            <a:pPr lvl="1"/>
            <a:r>
              <a:t>Baseline first-pass yield is 91.4%, target is 95% within two quarters.</a:t>
            </a:r>
          </a:p>
          <a:p>
            <a:pPr lvl="1"/>
            <a:r>
              <a:t>Top defect categories are seal leaks, label misalignment, and torque out-of-spec.</a:t>
            </a:r>
          </a:p>
          <a:p>
            <a:pPr lvl="1"/>
            <a:r>
              <a:t>Section 9 review cadence is tracked by Carlos Ibarra under Process Engineering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Process Engineering</a:t>
                      </a:r>
                    </a:p>
                  </a:txBody>
                  <a:tcPr/>
                </a:tc>
                <a:tc>
                  <a:txBody>
                    <a:bodyPr/>
                    <a:lstStyle/>
                    <a:p>
                      <a:pPr>
                        <a:defRPr sz="1000"/>
                      </a:pPr>
                      <a:r>
                        <a:t>Carlos Ibarra</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Yield Improvement Project Ch Gate 1</a:t>
                      </a:r>
                    </a:p>
                  </a:txBody>
                  <a:tcPr/>
                </a:tc>
                <a:tc>
                  <a:txBody>
                    <a:bodyPr/>
                    <a:lstStyle/>
                    <a:p>
                      <a:pPr>
                        <a:defRPr sz="1000"/>
                      </a:pPr>
                      <a:r>
                        <a:t>Carlos Ibarra</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Yield Improvement Project Ch Gate 2</a:t>
                      </a:r>
                    </a:p>
                  </a:txBody>
                  <a:tcPr/>
                </a:tc>
                <a:tc>
                  <a:txBody>
                    <a:bodyPr/>
                    <a:lstStyle/>
                    <a:p>
                      <a:pPr>
                        <a:defRPr sz="1000"/>
                      </a:pPr>
                      <a:r>
                        <a:t>Carlos Ibarra</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Sec-9</a:t>
                      </a:r>
                    </a:p>
                  </a:txBody>
                  <a:tcPr/>
                </a:tc>
                <a:tc>
                  <a:txBody>
                    <a:bodyPr/>
                    <a:lstStyle/>
                    <a:p>
                      <a:pPr>
                        <a:defRPr sz="1000"/>
                      </a:pPr>
                      <a:r>
                        <a:t>Carlos Ibarra</a:t>
                      </a:r>
                    </a:p>
                  </a:txBody>
                  <a:tcPr/>
                </a:tc>
                <a:tc>
                  <a:txBody>
                    <a:bodyPr/>
                    <a:lstStyle/>
                    <a:p>
                      <a:pPr>
                        <a:defRPr sz="1000"/>
                      </a:pPr>
                      <a:r>
                        <a:t>10 business days</a:t>
                      </a:r>
                    </a:p>
                  </a:txBody>
                  <a:tcPr/>
                </a:tc>
                <a:tc>
                  <a:txBody>
                    <a:bodyPr/>
                    <a:lstStyle/>
                    <a:p>
                      <a:pPr>
                        <a:defRPr sz="1000"/>
                      </a:pPr>
                      <a:r>
                        <a:t>Stage 9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Cross-Functional Dependencies - Yield Improvement Project Charter - </a:t>
            </a:r>
          </a:p>
        </p:txBody>
      </p:sp>
      <p:sp>
        <p:nvSpPr>
          <p:cNvPr id="3" name="Content Placeholder 2"/>
          <p:cNvSpPr>
            <a:spLocks noGrp="1"/>
          </p:cNvSpPr>
          <p:nvPr>
            <p:ph idx="1"/>
          </p:nvPr>
        </p:nvSpPr>
        <p:spPr/>
        <p:txBody>
          <a:bodyPr/>
          <a:lstStyle/>
          <a:p>
            <a:r>
              <a:t>Project charter kicking off a yield improvement initiative targeting the top three defect categories on Line 3. Section 10 (Cross-Functional Dependencies) applies to Process Engineering within Manufacturing Knowledge Hub and is maintained by Carlos Ibarra. Documents upstream and downstream team dependencies and service-level commitments.</a:t>
            </a:r>
          </a:p>
          <a:p>
            <a:pPr lvl="1"/>
            <a:r>
              <a:t>Top defect categories are seal leaks, label misalignment, and torque out-of-spec.</a:t>
            </a:r>
          </a:p>
          <a:p>
            <a:pPr lvl="1"/>
            <a:r>
              <a:t>Cross-functional team includes quality, process engineering, and production supervisors.</a:t>
            </a:r>
          </a:p>
          <a:p>
            <a:pPr lvl="1"/>
            <a:r>
              <a:t>Section 10 review cadence is tracked by Carlos Ibarra under Process Engineering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Process Engineering</a:t>
                      </a:r>
                    </a:p>
                  </a:txBody>
                  <a:tcPr/>
                </a:tc>
                <a:tc>
                  <a:txBody>
                    <a:bodyPr/>
                    <a:lstStyle/>
                    <a:p>
                      <a:pPr>
                        <a:defRPr sz="1000"/>
                      </a:pPr>
                      <a:r>
                        <a:t>Carlos Ibarra</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Yield Improvement Project Ch Gate 1</a:t>
                      </a:r>
                    </a:p>
                  </a:txBody>
                  <a:tcPr/>
                </a:tc>
                <a:tc>
                  <a:txBody>
                    <a:bodyPr/>
                    <a:lstStyle/>
                    <a:p>
                      <a:pPr>
                        <a:defRPr sz="1000"/>
                      </a:pPr>
                      <a:r>
                        <a:t>Carlos Ibarra</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Yield Improvement Project Ch Gate 2</a:t>
                      </a:r>
                    </a:p>
                  </a:txBody>
                  <a:tcPr/>
                </a:tc>
                <a:tc>
                  <a:txBody>
                    <a:bodyPr/>
                    <a:lstStyle/>
                    <a:p>
                      <a:pPr>
                        <a:defRPr sz="1000"/>
                      </a:pPr>
                      <a:r>
                        <a:t>Carlos Ibarra</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Sec-10</a:t>
                      </a:r>
                    </a:p>
                  </a:txBody>
                  <a:tcPr/>
                </a:tc>
                <a:tc>
                  <a:txBody>
                    <a:bodyPr/>
                    <a:lstStyle/>
                    <a:p>
                      <a:pPr>
                        <a:defRPr sz="1000"/>
                      </a:pPr>
                      <a:r>
                        <a:t>Carlos Ibarra</a:t>
                      </a:r>
                    </a:p>
                  </a:txBody>
                  <a:tcPr/>
                </a:tc>
                <a:tc>
                  <a:txBody>
                    <a:bodyPr/>
                    <a:lstStyle/>
                    <a:p>
                      <a:pPr>
                        <a:defRPr sz="1000"/>
                      </a:pPr>
                      <a:r>
                        <a:t>5 business days</a:t>
                      </a:r>
                    </a:p>
                  </a:txBody>
                  <a:tcPr/>
                </a:tc>
                <a:tc>
                  <a:txBody>
                    <a:bodyPr/>
                    <a:lstStyle/>
                    <a:p>
                      <a:pPr>
                        <a:defRPr sz="1000"/>
                      </a:pPr>
                      <a:r>
                        <a:t>Stage 10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Continuous Improvement Roadmap - Yield Improvement Project Charter - </a:t>
            </a:r>
          </a:p>
        </p:txBody>
      </p:sp>
      <p:sp>
        <p:nvSpPr>
          <p:cNvPr id="3" name="Content Placeholder 2"/>
          <p:cNvSpPr>
            <a:spLocks noGrp="1"/>
          </p:cNvSpPr>
          <p:nvPr>
            <p:ph idx="1"/>
          </p:nvPr>
        </p:nvSpPr>
        <p:spPr/>
        <p:txBody>
          <a:bodyPr/>
          <a:lstStyle/>
          <a:p>
            <a:r>
              <a:t>Project charter kicking off a yield improvement initiative targeting the top three defect categories on Line 3. Section 11 (Continuous Improvement Roadmap) applies to Process Engineering within Manufacturing Knowledge Hub and is maintained by Carlos Ibarra. Schedules quarterly optimization milestones, automation targets, and capability reviews.</a:t>
            </a:r>
          </a:p>
          <a:p>
            <a:pPr lvl="1"/>
            <a:r>
              <a:t>Cross-functional team includes quality, process engineering, and production supervisors.</a:t>
            </a:r>
          </a:p>
          <a:p>
            <a:pPr lvl="1"/>
            <a:r>
              <a:t>Weekly tollgate reviews track progress against the yield improvement roadmap.</a:t>
            </a:r>
          </a:p>
          <a:p>
            <a:pPr lvl="1"/>
            <a:r>
              <a:t>Section 11 review cadence is tracked by Carlos Ibarra under Process Engineering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Process Engineering</a:t>
                      </a:r>
                    </a:p>
                  </a:txBody>
                  <a:tcPr/>
                </a:tc>
                <a:tc>
                  <a:txBody>
                    <a:bodyPr/>
                    <a:lstStyle/>
                    <a:p>
                      <a:pPr>
                        <a:defRPr sz="1000"/>
                      </a:pPr>
                      <a:r>
                        <a:t>Carlos Ibarra</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Yield Improvement Project Ch Gate 1</a:t>
                      </a:r>
                    </a:p>
                  </a:txBody>
                  <a:tcPr/>
                </a:tc>
                <a:tc>
                  <a:txBody>
                    <a:bodyPr/>
                    <a:lstStyle/>
                    <a:p>
                      <a:pPr>
                        <a:defRPr sz="1000"/>
                      </a:pPr>
                      <a:r>
                        <a:t>Carlos Ibarra</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Yield Improvement Project Ch Gate 2</a:t>
                      </a:r>
                    </a:p>
                  </a:txBody>
                  <a:tcPr/>
                </a:tc>
                <a:tc>
                  <a:txBody>
                    <a:bodyPr/>
                    <a:lstStyle/>
                    <a:p>
                      <a:pPr>
                        <a:defRPr sz="1000"/>
                      </a:pPr>
                      <a:r>
                        <a:t>Carlos Ibarra</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Sec-11</a:t>
                      </a:r>
                    </a:p>
                  </a:txBody>
                  <a:tcPr/>
                </a:tc>
                <a:tc>
                  <a:txBody>
                    <a:bodyPr/>
                    <a:lstStyle/>
                    <a:p>
                      <a:pPr>
                        <a:defRPr sz="1000"/>
                      </a:pPr>
                      <a:r>
                        <a:t>Carlos Ibarra</a:t>
                      </a:r>
                    </a:p>
                  </a:txBody>
                  <a:tcPr/>
                </a:tc>
                <a:tc>
                  <a:txBody>
                    <a:bodyPr/>
                    <a:lstStyle/>
                    <a:p>
                      <a:pPr>
                        <a:defRPr sz="1000"/>
                      </a:pPr>
                      <a:r>
                        <a:t>3 business days</a:t>
                      </a:r>
                    </a:p>
                  </a:txBody>
                  <a:tcPr/>
                </a:tc>
                <a:tc>
                  <a:txBody>
                    <a:bodyPr/>
                    <a:lstStyle/>
                    <a:p>
                      <a:pPr>
                        <a:defRPr sz="1000"/>
                      </a:pPr>
                      <a:r>
                        <a:t>Stage 11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Appendix, Lineage &amp; Sign-off - Yield Improvement Project Charter - </a:t>
            </a:r>
          </a:p>
        </p:txBody>
      </p:sp>
      <p:sp>
        <p:nvSpPr>
          <p:cNvPr id="3" name="Content Placeholder 2"/>
          <p:cNvSpPr>
            <a:spLocks noGrp="1"/>
          </p:cNvSpPr>
          <p:nvPr>
            <p:ph idx="1"/>
          </p:nvPr>
        </p:nvSpPr>
        <p:spPr/>
        <p:txBody>
          <a:bodyPr/>
          <a:lstStyle/>
          <a:p>
            <a:r>
              <a:t>Project charter kicking off a yield improvement initiative targeting the top three defect categories on Line 3. Section 12 (Appendix, Lineage &amp; Sign-off) applies to Process Engineering within Manufacturing Knowledge Hub and is maintained by Carlos Ibarra. Records document lineage, governance metadata, version history, and owner sign-off.</a:t>
            </a:r>
          </a:p>
          <a:p>
            <a:pPr lvl="1"/>
            <a:r>
              <a:t>Weekly tollgate reviews track progress against the yield improvement roadmap.</a:t>
            </a:r>
          </a:p>
          <a:p>
            <a:pPr lvl="1"/>
            <a:r>
              <a:t>Baseline first-pass yield is 91.4%, target is 95% within two quarters.</a:t>
            </a:r>
          </a:p>
          <a:p>
            <a:pPr lvl="1"/>
            <a:r>
              <a:t>Section 12 review cadence is tracked by Carlos Ibarra under Process Engineering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Process Engineering</a:t>
                      </a:r>
                    </a:p>
                  </a:txBody>
                  <a:tcPr/>
                </a:tc>
                <a:tc>
                  <a:txBody>
                    <a:bodyPr/>
                    <a:lstStyle/>
                    <a:p>
                      <a:pPr>
                        <a:defRPr sz="1000"/>
                      </a:pPr>
                      <a:r>
                        <a:t>Carlos Ibarra</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Yield Improvement Project Ch Gate 1</a:t>
                      </a:r>
                    </a:p>
                  </a:txBody>
                  <a:tcPr/>
                </a:tc>
                <a:tc>
                  <a:txBody>
                    <a:bodyPr/>
                    <a:lstStyle/>
                    <a:p>
                      <a:pPr>
                        <a:defRPr sz="1000"/>
                      </a:pPr>
                      <a:r>
                        <a:t>Carlos Ibarra</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Yield Improvement Project Ch Gate 2</a:t>
                      </a:r>
                    </a:p>
                  </a:txBody>
                  <a:tcPr/>
                </a:tc>
                <a:tc>
                  <a:txBody>
                    <a:bodyPr/>
                    <a:lstStyle/>
                    <a:p>
                      <a:pPr>
                        <a:defRPr sz="1000"/>
                      </a:pPr>
                      <a:r>
                        <a:t>Carlos Ibarra</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Sec-12</a:t>
                      </a:r>
                    </a:p>
                  </a:txBody>
                  <a:tcPr/>
                </a:tc>
                <a:tc>
                  <a:txBody>
                    <a:bodyPr/>
                    <a:lstStyle/>
                    <a:p>
                      <a:pPr>
                        <a:defRPr sz="1000"/>
                      </a:pPr>
                      <a:r>
                        <a:t>Carlos Ibarra</a:t>
                      </a:r>
                    </a:p>
                  </a:txBody>
                  <a:tcPr/>
                </a:tc>
                <a:tc>
                  <a:txBody>
                    <a:bodyPr/>
                    <a:lstStyle/>
                    <a:p>
                      <a:pPr>
                        <a:defRPr sz="1000"/>
                      </a:pPr>
                      <a:r>
                        <a:t>10 business days</a:t>
                      </a:r>
                    </a:p>
                  </a:txBody>
                  <a:tcPr/>
                </a:tc>
                <a:tc>
                  <a:txBody>
                    <a:bodyPr/>
                    <a:lstStyle/>
                    <a:p>
                      <a:pPr>
                        <a:defRPr sz="1000"/>
                      </a:pPr>
                      <a:r>
                        <a:t>Stage 12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