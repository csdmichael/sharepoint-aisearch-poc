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 &amp; Scope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1 (Executive Summary &amp; Scope) applies to Quality Assurance within Manufacturing Knowledge Hub and is maintained by Linda Park. Defines the operational charter, scope boundaries, and executive accountability.</a:t>
            </a:r>
          </a:p>
          <a:p>
            <a:pPr lvl="1"/>
            <a:r>
              <a:t>Presents X-bar/R control chart stability and Cpk capability across Lines 1, 2, and 3.</a:t>
            </a:r>
          </a:p>
          <a:p>
            <a:pPr lvl="1"/>
            <a:r>
              <a:t>Reviews 8D containment and root-cause verification for customer field returns.</a:t>
            </a:r>
          </a:p>
          <a:p>
            <a:pPr lvl="1"/>
            <a:r>
              <a:t>Section 1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389888"/>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 &amp; Process Flow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2 (Architecture &amp; Process Flow) applies to Quality Assurance within Manufacturing Knowledge Hub and is maintained by Linda Park. Maps end-to-end process stages, handoff gates, and system-of-record integrations.</a:t>
            </a:r>
          </a:p>
          <a:p>
            <a:pPr lvl="1"/>
            <a:r>
              <a:t>Reviews 8D containment and root-cause verification for customer field returns.</a:t>
            </a:r>
          </a:p>
          <a:p>
            <a:pPr lvl="1"/>
            <a:r>
              <a:t>Tracks gauge R&amp;R and calibration compliance across 140 floor measurement instruments.</a:t>
            </a:r>
          </a:p>
          <a:p>
            <a:pPr lvl="1"/>
            <a:r>
              <a:t>Section 2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Sec-2</a:t>
                      </a:r>
                    </a:p>
                  </a:txBody>
                  <a:tcPr/>
                </a:tc>
                <a:tc>
                  <a:txBody>
                    <a:bodyPr/>
                    <a:lstStyle/>
                    <a:p>
                      <a:pPr>
                        <a:defRPr sz="1000"/>
                      </a:pPr>
                      <a:r>
                        <a:t>94.1%</a:t>
                      </a:r>
                    </a:p>
                  </a:txBody>
                  <a:tcPr/>
                </a:tc>
                <a:tc>
                  <a:txBody>
                    <a:bodyPr/>
                    <a:lstStyle/>
                    <a:p>
                      <a:pPr>
                        <a:defRPr sz="1000"/>
                      </a:pPr>
                      <a:r>
                        <a:t>1.39</a:t>
                      </a:r>
                    </a:p>
                  </a:txBody>
                  <a:tcPr/>
                </a:tc>
                <a:tc>
                  <a:txBody>
                    <a:bodyPr/>
                    <a:lstStyle/>
                    <a:p>
                      <a:pPr>
                        <a:defRPr sz="1000"/>
                      </a:pPr>
                      <a:r>
                        <a:t>Stage 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Governance Standards &amp; Controls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3 (Governance Standards &amp; Controls) applies to Quality Assurance within Manufacturing Knowledge Hub and is maintained by Linda Park. Establishes mandatory compliance controls, approval thresholds, and audit evidence.</a:t>
            </a:r>
          </a:p>
          <a:p>
            <a:pPr lvl="1"/>
            <a:r>
              <a:t>Tracks gauge R&amp;R and calibration compliance across 140 floor measurement instruments.</a:t>
            </a:r>
          </a:p>
          <a:p>
            <a:pPr lvl="1"/>
            <a:r>
              <a:t>Outlines zero-defect containment gates for incoming fastener and bracket lots.</a:t>
            </a:r>
          </a:p>
          <a:p>
            <a:pPr lvl="1"/>
            <a:r>
              <a:t>Section 3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Sec-3</a:t>
                      </a:r>
                    </a:p>
                  </a:txBody>
                  <a:tcPr/>
                </a:tc>
                <a:tc>
                  <a:txBody>
                    <a:bodyPr/>
                    <a:lstStyle/>
                    <a:p>
                      <a:pPr>
                        <a:defRPr sz="1000"/>
                      </a:pPr>
                      <a:r>
                        <a:t>95.2%</a:t>
                      </a:r>
                    </a:p>
                  </a:txBody>
                  <a:tcPr/>
                </a:tc>
                <a:tc>
                  <a:txBody>
                    <a:bodyPr/>
                    <a:lstStyle/>
                    <a:p>
                      <a:pPr>
                        <a:defRPr sz="1000"/>
                      </a:pPr>
                      <a:r>
                        <a:t>1.48</a:t>
                      </a:r>
                    </a:p>
                  </a:txBody>
                  <a:tcPr/>
                </a:tc>
                <a:tc>
                  <a:txBody>
                    <a:bodyPr/>
                    <a:lstStyle/>
                    <a:p>
                      <a:pPr>
                        <a:defRPr sz="1000"/>
                      </a:pPr>
                      <a:r>
                        <a:t>Stage 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Operational KPIs &amp; Benchmarks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4 (Operational KPIs &amp; Benchmarks) applies to Quality Assurance within Manufacturing Knowledge Hub and is maintained by Linda Park. Tracks baseline performance, target SLAs, and quarterly benchmark progression.</a:t>
            </a:r>
          </a:p>
          <a:p>
            <a:pPr lvl="1"/>
            <a:r>
              <a:t>Outlines zero-defect containment gates for incoming fastener and bracket lots.</a:t>
            </a:r>
          </a:p>
          <a:p>
            <a:pPr lvl="1"/>
            <a:r>
              <a:t>Presents X-bar/R control chart stability and Cpk capability across Lines 1, 2, and 3.</a:t>
            </a:r>
          </a:p>
          <a:p>
            <a:pPr lvl="1"/>
            <a:r>
              <a:t>Section 4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Sec-4</a:t>
                      </a:r>
                    </a:p>
                  </a:txBody>
                  <a:tcPr/>
                </a:tc>
                <a:tc>
                  <a:txBody>
                    <a:bodyPr/>
                    <a:lstStyle/>
                    <a:p>
                      <a:pPr>
                        <a:defRPr sz="1000"/>
                      </a:pPr>
                      <a:r>
                        <a:t>96.4%</a:t>
                      </a:r>
                    </a:p>
                  </a:txBody>
                  <a:tcPr/>
                </a:tc>
                <a:tc>
                  <a:txBody>
                    <a:bodyPr/>
                    <a:lstStyle/>
                    <a:p>
                      <a:pPr>
                        <a:defRPr sz="1000"/>
                      </a:pPr>
                      <a:r>
                        <a:t>1.52</a:t>
                      </a:r>
                    </a:p>
                  </a:txBody>
                  <a:tcPr/>
                </a:tc>
                <a:tc>
                  <a:txBody>
                    <a:bodyPr/>
                    <a:lstStyle/>
                    <a:p>
                      <a:pPr>
                        <a:defRPr sz="1000"/>
                      </a:pPr>
                      <a:r>
                        <a:t>Stage 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Roles, Responsibilities &amp; RACI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5 (Roles, Responsibilities &amp; RACI) applies to Quality Assurance within Manufacturing Knowledge Hub and is maintained by Linda Park. Clarifies ownership across accountable executives, operational leads, and reviewers.</a:t>
            </a:r>
          </a:p>
          <a:p>
            <a:pPr lvl="1"/>
            <a:r>
              <a:t>Presents X-bar/R control chart stability and Cpk capability across Lines 1, 2, and 3.</a:t>
            </a:r>
          </a:p>
          <a:p>
            <a:pPr lvl="1"/>
            <a:r>
              <a:t>Reviews 8D containment and root-cause verification for customer field returns.</a:t>
            </a:r>
          </a:p>
          <a:p>
            <a:pPr lvl="1"/>
            <a:r>
              <a:t>Section 5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Sec-5</a:t>
                      </a:r>
                    </a:p>
                  </a:txBody>
                  <a:tcPr/>
                </a:tc>
                <a:tc>
                  <a:txBody>
                    <a:bodyPr/>
                    <a:lstStyle/>
                    <a:p>
                      <a:pPr>
                        <a:defRPr sz="1000"/>
                      </a:pPr>
                      <a:r>
                        <a:t>94.1%</a:t>
                      </a:r>
                    </a:p>
                  </a:txBody>
                  <a:tcPr/>
                </a:tc>
                <a:tc>
                  <a:txBody>
                    <a:bodyPr/>
                    <a:lstStyle/>
                    <a:p>
                      <a:pPr>
                        <a:defRPr sz="1000"/>
                      </a:pPr>
                      <a:r>
                        <a:t>1.39</a:t>
                      </a:r>
                    </a:p>
                  </a:txBody>
                  <a:tcPr/>
                </a:tc>
                <a:tc>
                  <a:txBody>
                    <a:bodyPr/>
                    <a:lstStyle/>
                    <a:p>
                      <a:pPr>
                        <a:defRPr sz="1000"/>
                      </a:pPr>
                      <a:r>
                        <a:t>Stage 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Standard Operating Procedures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6 (Standard Operating Procedures) applies to Quality Assurance within Manufacturing Knowledge Hub and is maintained by Linda Park. Provides step-by-step execution checklists, intake criteria, and verification gates.</a:t>
            </a:r>
          </a:p>
          <a:p>
            <a:pPr lvl="1"/>
            <a:r>
              <a:t>Reviews 8D containment and root-cause verification for customer field returns.</a:t>
            </a:r>
          </a:p>
          <a:p>
            <a:pPr lvl="1"/>
            <a:r>
              <a:t>Tracks gauge R&amp;R and calibration compliance across 140 floor measurement instruments.</a:t>
            </a:r>
          </a:p>
          <a:p>
            <a:pPr lvl="1"/>
            <a:r>
              <a:t>Section 6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Sec-6</a:t>
                      </a:r>
                    </a:p>
                  </a:txBody>
                  <a:tcPr/>
                </a:tc>
                <a:tc>
                  <a:txBody>
                    <a:bodyPr/>
                    <a:lstStyle/>
                    <a:p>
                      <a:pPr>
                        <a:defRPr sz="1000"/>
                      </a:pPr>
                      <a:r>
                        <a:t>95.2%</a:t>
                      </a:r>
                    </a:p>
                  </a:txBody>
                  <a:tcPr/>
                </a:tc>
                <a:tc>
                  <a:txBody>
                    <a:bodyPr/>
                    <a:lstStyle/>
                    <a:p>
                      <a:pPr>
                        <a:defRPr sz="1000"/>
                      </a:pPr>
                      <a:r>
                        <a:t>1.48</a:t>
                      </a:r>
                    </a:p>
                  </a:txBody>
                  <a:tcPr/>
                </a:tc>
                <a:tc>
                  <a:txBody>
                    <a:bodyPr/>
                    <a:lstStyle/>
                    <a:p>
                      <a:pPr>
                        <a:defRPr sz="1000"/>
                      </a:pPr>
                      <a:r>
                        <a:t>Stage 6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Risk Register &amp; Mitigations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7 (Risk Register &amp; Mitigations) applies to Quality Assurance within Manufacturing Knowledge Hub and is maintained by Linda Park. Catalogs operational, compliance, and delivery risks alongside preventive mitigations.</a:t>
            </a:r>
          </a:p>
          <a:p>
            <a:pPr lvl="1"/>
            <a:r>
              <a:t>Tracks gauge R&amp;R and calibration compliance across 140 floor measurement instruments.</a:t>
            </a:r>
          </a:p>
          <a:p>
            <a:pPr lvl="1"/>
            <a:r>
              <a:t>Outlines zero-defect containment gates for incoming fastener and bracket lots.</a:t>
            </a:r>
          </a:p>
          <a:p>
            <a:pPr lvl="1"/>
            <a:r>
              <a:t>Section 7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Sec-7</a:t>
                      </a:r>
                    </a:p>
                  </a:txBody>
                  <a:tcPr/>
                </a:tc>
                <a:tc>
                  <a:txBody>
                    <a:bodyPr/>
                    <a:lstStyle/>
                    <a:p>
                      <a:pPr>
                        <a:defRPr sz="1000"/>
                      </a:pPr>
                      <a:r>
                        <a:t>96.4%</a:t>
                      </a:r>
                    </a:p>
                  </a:txBody>
                  <a:tcPr/>
                </a:tc>
                <a:tc>
                  <a:txBody>
                    <a:bodyPr/>
                    <a:lstStyle/>
                    <a:p>
                      <a:pPr>
                        <a:defRPr sz="1000"/>
                      </a:pPr>
                      <a:r>
                        <a:t>1.52</a:t>
                      </a:r>
                    </a:p>
                  </a:txBody>
                  <a:tcPr/>
                </a:tc>
                <a:tc>
                  <a:txBody>
                    <a:bodyPr/>
                    <a:lstStyle/>
                    <a:p>
                      <a:pPr>
                        <a:defRPr sz="1000"/>
                      </a:pPr>
                      <a:r>
                        <a:t>Stage 7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Quality Assurance &amp; Audits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8 (Quality Assurance &amp; Audits) applies to Quality Assurance within Manufacturing Knowledge Hub and is maintained by Linda Park. Specifies sampling frequencies, inspection tolerances, and nonconformance workflows.</a:t>
            </a:r>
          </a:p>
          <a:p>
            <a:pPr lvl="1"/>
            <a:r>
              <a:t>Outlines zero-defect containment gates for incoming fastener and bracket lots.</a:t>
            </a:r>
          </a:p>
          <a:p>
            <a:pPr lvl="1"/>
            <a:r>
              <a:t>Presents X-bar/R control chart stability and Cpk capability across Lines 1, 2, and 3.</a:t>
            </a:r>
          </a:p>
          <a:p>
            <a:pPr lvl="1"/>
            <a:r>
              <a:t>Section 8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Sec-8</a:t>
                      </a:r>
                    </a:p>
                  </a:txBody>
                  <a:tcPr/>
                </a:tc>
                <a:tc>
                  <a:txBody>
                    <a:bodyPr/>
                    <a:lstStyle/>
                    <a:p>
                      <a:pPr>
                        <a:defRPr sz="1000"/>
                      </a:pPr>
                      <a:r>
                        <a:t>94.1%</a:t>
                      </a:r>
                    </a:p>
                  </a:txBody>
                  <a:tcPr/>
                </a:tc>
                <a:tc>
                  <a:txBody>
                    <a:bodyPr/>
                    <a:lstStyle/>
                    <a:p>
                      <a:pPr>
                        <a:defRPr sz="1000"/>
                      </a:pPr>
                      <a:r>
                        <a:t>1.39</a:t>
                      </a:r>
                    </a:p>
                  </a:txBody>
                  <a:tcPr/>
                </a:tc>
                <a:tc>
                  <a:txBody>
                    <a:bodyPr/>
                    <a:lstStyle/>
                    <a:p>
                      <a:pPr>
                        <a:defRPr sz="1000"/>
                      </a:pPr>
                      <a:r>
                        <a:t>Stage 8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Exception Handling &amp; Escalations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9 (Exception Handling &amp; Escalations) applies to Quality Assurance within Manufacturing Knowledge Hub and is maintained by Linda Park. Outlines severity tiers, response SLAs, and cross-functional escalation paths.</a:t>
            </a:r>
          </a:p>
          <a:p>
            <a:pPr lvl="1"/>
            <a:r>
              <a:t>Presents X-bar/R control chart stability and Cpk capability across Lines 1, 2, and 3.</a:t>
            </a:r>
          </a:p>
          <a:p>
            <a:pPr lvl="1"/>
            <a:r>
              <a:t>Reviews 8D containment and root-cause verification for customer field returns.</a:t>
            </a:r>
          </a:p>
          <a:p>
            <a:pPr lvl="1"/>
            <a:r>
              <a:t>Section 9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Sec-9</a:t>
                      </a:r>
                    </a:p>
                  </a:txBody>
                  <a:tcPr/>
                </a:tc>
                <a:tc>
                  <a:txBody>
                    <a:bodyPr/>
                    <a:lstStyle/>
                    <a:p>
                      <a:pPr>
                        <a:defRPr sz="1000"/>
                      </a:pPr>
                      <a:r>
                        <a:t>95.2%</a:t>
                      </a:r>
                    </a:p>
                  </a:txBody>
                  <a:tcPr/>
                </a:tc>
                <a:tc>
                  <a:txBody>
                    <a:bodyPr/>
                    <a:lstStyle/>
                    <a:p>
                      <a:pPr>
                        <a:defRPr sz="1000"/>
                      </a:pPr>
                      <a:r>
                        <a:t>1.48</a:t>
                      </a:r>
                    </a:p>
                  </a:txBody>
                  <a:tcPr/>
                </a:tc>
                <a:tc>
                  <a:txBody>
                    <a:bodyPr/>
                    <a:lstStyle/>
                    <a:p>
                      <a:pPr>
                        <a:defRPr sz="1000"/>
                      </a:pPr>
                      <a:r>
                        <a:t>Stage 9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Cross-Functional Dependencies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10 (Cross-Functional Dependencies) applies to Quality Assurance within Manufacturing Knowledge Hub and is maintained by Linda Park. Documents upstream and downstream team dependencies and service-level commitments.</a:t>
            </a:r>
          </a:p>
          <a:p>
            <a:pPr lvl="1"/>
            <a:r>
              <a:t>Reviews 8D containment and root-cause verification for customer field returns.</a:t>
            </a:r>
          </a:p>
          <a:p>
            <a:pPr lvl="1"/>
            <a:r>
              <a:t>Tracks gauge R&amp;R and calibration compliance across 140 floor measurement instruments.</a:t>
            </a:r>
          </a:p>
          <a:p>
            <a:pPr lvl="1"/>
            <a:r>
              <a:t>Section 10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Sec-10</a:t>
                      </a:r>
                    </a:p>
                  </a:txBody>
                  <a:tcPr/>
                </a:tc>
                <a:tc>
                  <a:txBody>
                    <a:bodyPr/>
                    <a:lstStyle/>
                    <a:p>
                      <a:pPr>
                        <a:defRPr sz="1000"/>
                      </a:pPr>
                      <a:r>
                        <a:t>96.4%</a:t>
                      </a:r>
                    </a:p>
                  </a:txBody>
                  <a:tcPr/>
                </a:tc>
                <a:tc>
                  <a:txBody>
                    <a:bodyPr/>
                    <a:lstStyle/>
                    <a:p>
                      <a:pPr>
                        <a:defRPr sz="1000"/>
                      </a:pPr>
                      <a:r>
                        <a:t>1.52</a:t>
                      </a:r>
                    </a:p>
                  </a:txBody>
                  <a:tcPr/>
                </a:tc>
                <a:tc>
                  <a:txBody>
                    <a:bodyPr/>
                    <a:lstStyle/>
                    <a:p>
                      <a:pPr>
                        <a:defRPr sz="1000"/>
                      </a:pPr>
                      <a:r>
                        <a:t>Stage 10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Continuous Improvement Roadmap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11 (Continuous Improvement Roadmap) applies to Quality Assurance within Manufacturing Knowledge Hub and is maintained by Linda Park. Schedules quarterly optimization milestones, automation targets, and capability reviews.</a:t>
            </a:r>
          </a:p>
          <a:p>
            <a:pPr lvl="1"/>
            <a:r>
              <a:t>Tracks gauge R&amp;R and calibration compliance across 140 floor measurement instruments.</a:t>
            </a:r>
          </a:p>
          <a:p>
            <a:pPr lvl="1"/>
            <a:r>
              <a:t>Outlines zero-defect containment gates for incoming fastener and bracket lots.</a:t>
            </a:r>
          </a:p>
          <a:p>
            <a:pPr lvl="1"/>
            <a:r>
              <a:t>Section 11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Sec-11</a:t>
                      </a:r>
                    </a:p>
                  </a:txBody>
                  <a:tcPr/>
                </a:tc>
                <a:tc>
                  <a:txBody>
                    <a:bodyPr/>
                    <a:lstStyle/>
                    <a:p>
                      <a:pPr>
                        <a:defRPr sz="1000"/>
                      </a:pPr>
                      <a:r>
                        <a:t>94.1%</a:t>
                      </a:r>
                    </a:p>
                  </a:txBody>
                  <a:tcPr/>
                </a:tc>
                <a:tc>
                  <a:txBody>
                    <a:bodyPr/>
                    <a:lstStyle/>
                    <a:p>
                      <a:pPr>
                        <a:defRPr sz="1000"/>
                      </a:pPr>
                      <a:r>
                        <a:t>1.39</a:t>
                      </a:r>
                    </a:p>
                  </a:txBody>
                  <a:tcPr/>
                </a:tc>
                <a:tc>
                  <a:txBody>
                    <a:bodyPr/>
                    <a:lstStyle/>
                    <a:p>
                      <a:pPr>
                        <a:defRPr sz="1000"/>
                      </a:pPr>
                      <a:r>
                        <a:t>Stage 11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Appendix, Lineage &amp; Sign-off - Plant Quality Management System Exec</a:t>
            </a:r>
          </a:p>
        </p:txBody>
      </p:sp>
      <p:sp>
        <p:nvSpPr>
          <p:cNvPr id="3" name="Content Placeholder 2"/>
          <p:cNvSpPr>
            <a:spLocks noGrp="1"/>
          </p:cNvSpPr>
          <p:nvPr>
            <p:ph idx="1"/>
          </p:nvPr>
        </p:nvSpPr>
        <p:spPr/>
        <p:txBody>
          <a:bodyPr/>
          <a:lstStyle/>
          <a:p>
            <a:r>
              <a:t>Multi-slide quality review deck covering Statistical Process Control, CAPA closure velocity, ISO 9001 audit readiness, and supplier lot acceptance. Section 12 (Appendix, Lineage &amp; Sign-off) applies to Quality Assurance within Manufacturing Knowledge Hub and is maintained by Linda Park. Records document lineage, governance metadata, version history, and owner sign-off.</a:t>
            </a:r>
          </a:p>
          <a:p>
            <a:pPr lvl="1"/>
            <a:r>
              <a:t>Outlines zero-defect containment gates for incoming fastener and bracket lots.</a:t>
            </a:r>
          </a:p>
          <a:p>
            <a:pPr lvl="1"/>
            <a:r>
              <a:t>Presents X-bar/R control chart stability and Cpk capability across Lines 1, 2, and 3.</a:t>
            </a:r>
          </a:p>
          <a:p>
            <a:pPr lvl="1"/>
            <a:r>
              <a:t>Section 12 review cadence is tracked by Linda Park under Quality Assurance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Production Line</a:t>
                      </a:r>
                    </a:p>
                  </a:txBody>
                  <a:tcPr/>
                </a:tc>
                <a:tc>
                  <a:txBody>
                    <a:bodyPr/>
                    <a:lstStyle/>
                    <a:p>
                      <a:pPr>
                        <a:defRPr b="1" sz="1100"/>
                      </a:pPr>
                      <a:r>
                        <a:t>First-Pass Yield</a:t>
                      </a:r>
                    </a:p>
                  </a:txBody>
                  <a:tcPr/>
                </a:tc>
                <a:tc>
                  <a:txBody>
                    <a:bodyPr/>
                    <a:lstStyle/>
                    <a:p>
                      <a:pPr>
                        <a:defRPr b="1" sz="1100"/>
                      </a:pPr>
                      <a:r>
                        <a:t>Cpk Index</a:t>
                      </a:r>
                    </a:p>
                  </a:txBody>
                  <a:tcPr/>
                </a:tc>
                <a:tc>
                  <a:txBody>
                    <a:bodyPr/>
                    <a:lstStyle/>
                    <a:p>
                      <a:pPr>
                        <a:defRPr b="1" sz="1100"/>
                      </a:pPr>
                      <a:r>
                        <a:t>Open CAPAs</a:t>
                      </a:r>
                    </a:p>
                  </a:txBody>
                  <a:tcPr/>
                </a:tc>
              </a:tr>
              <a:tr h="347472">
                <a:tc>
                  <a:txBody>
                    <a:bodyPr/>
                    <a:lstStyle/>
                    <a:p>
                      <a:pPr>
                        <a:defRPr sz="1000"/>
                      </a:pPr>
                      <a:r>
                        <a:t>Line 1</a:t>
                      </a:r>
                    </a:p>
                  </a:txBody>
                  <a:tcPr/>
                </a:tc>
                <a:tc>
                  <a:txBody>
                    <a:bodyPr/>
                    <a:lstStyle/>
                    <a:p>
                      <a:pPr>
                        <a:defRPr sz="1000"/>
                      </a:pPr>
                      <a:r>
                        <a:t>96.4%</a:t>
                      </a:r>
                    </a:p>
                  </a:txBody>
                  <a:tcPr/>
                </a:tc>
                <a:tc>
                  <a:txBody>
                    <a:bodyPr/>
                    <a:lstStyle/>
                    <a:p>
                      <a:pPr>
                        <a:defRPr sz="1000"/>
                      </a:pPr>
                      <a:r>
                        <a:t>1.52</a:t>
                      </a:r>
                    </a:p>
                  </a:txBody>
                  <a:tcPr/>
                </a:tc>
                <a:tc>
                  <a:txBody>
                    <a:bodyPr/>
                    <a:lstStyle/>
                    <a:p>
                      <a:pPr>
                        <a:defRPr sz="1000"/>
                      </a:pPr>
                      <a:r>
                        <a:t>1</a:t>
                      </a:r>
                    </a:p>
                  </a:txBody>
                  <a:tcPr/>
                </a:tc>
              </a:tr>
              <a:tr h="347472">
                <a:tc>
                  <a:txBody>
                    <a:bodyPr/>
                    <a:lstStyle/>
                    <a:p>
                      <a:pPr>
                        <a:defRPr sz="1000"/>
                      </a:pPr>
                      <a:r>
                        <a:t>Line 2</a:t>
                      </a:r>
                    </a:p>
                  </a:txBody>
                  <a:tcPr/>
                </a:tc>
                <a:tc>
                  <a:txBody>
                    <a:bodyPr/>
                    <a:lstStyle/>
                    <a:p>
                      <a:pPr>
                        <a:defRPr sz="1000"/>
                      </a:pPr>
                      <a:r>
                        <a:t>94.1%</a:t>
                      </a:r>
                    </a:p>
                  </a:txBody>
                  <a:tcPr/>
                </a:tc>
                <a:tc>
                  <a:txBody>
                    <a:bodyPr/>
                    <a:lstStyle/>
                    <a:p>
                      <a:pPr>
                        <a:defRPr sz="1000"/>
                      </a:pPr>
                      <a:r>
                        <a:t>1.39</a:t>
                      </a:r>
                    </a:p>
                  </a:txBody>
                  <a:tcPr/>
                </a:tc>
                <a:tc>
                  <a:txBody>
                    <a:bodyPr/>
                    <a:lstStyle/>
                    <a:p>
                      <a:pPr>
                        <a:defRPr sz="1000"/>
                      </a:pPr>
                      <a:r>
                        <a:t>2</a:t>
                      </a:r>
                    </a:p>
                  </a:txBody>
                  <a:tcPr/>
                </a:tc>
              </a:tr>
              <a:tr h="347472">
                <a:tc>
                  <a:txBody>
                    <a:bodyPr/>
                    <a:lstStyle/>
                    <a:p>
                      <a:pPr>
                        <a:defRPr sz="1000"/>
                      </a:pPr>
                      <a:r>
                        <a:t>Line 3</a:t>
                      </a:r>
                    </a:p>
                  </a:txBody>
                  <a:tcPr/>
                </a:tc>
                <a:tc>
                  <a:txBody>
                    <a:bodyPr/>
                    <a:lstStyle/>
                    <a:p>
                      <a:pPr>
                        <a:defRPr sz="1000"/>
                      </a:pPr>
                      <a:r>
                        <a:t>95.2%</a:t>
                      </a:r>
                    </a:p>
                  </a:txBody>
                  <a:tcPr/>
                </a:tc>
                <a:tc>
                  <a:txBody>
                    <a:bodyPr/>
                    <a:lstStyle/>
                    <a:p>
                      <a:pPr>
                        <a:defRPr sz="1000"/>
                      </a:pPr>
                      <a:r>
                        <a:t>1.48</a:t>
                      </a:r>
                    </a:p>
                  </a:txBody>
                  <a:tcPr/>
                </a:tc>
                <a:tc>
                  <a:txBody>
                    <a:bodyPr/>
                    <a:lstStyle/>
                    <a:p>
                      <a:pPr>
                        <a:defRPr sz="1000"/>
                      </a:pPr>
                      <a:r>
                        <a:t>1</a:t>
                      </a:r>
                    </a:p>
                  </a:txBody>
                  <a:tcPr/>
                </a:tc>
              </a:tr>
              <a:tr h="347472">
                <a:tc>
                  <a:txBody>
                    <a:bodyPr/>
                    <a:lstStyle/>
                    <a:p>
                      <a:pPr>
                        <a:defRPr sz="1000"/>
                      </a:pPr>
                      <a:r>
                        <a:t>Sec-12</a:t>
                      </a:r>
                    </a:p>
                  </a:txBody>
                  <a:tcPr/>
                </a:tc>
                <a:tc>
                  <a:txBody>
                    <a:bodyPr/>
                    <a:lstStyle/>
                    <a:p>
                      <a:pPr>
                        <a:defRPr sz="1000"/>
                      </a:pPr>
                      <a:r>
                        <a:t>95.2%</a:t>
                      </a:r>
                    </a:p>
                  </a:txBody>
                  <a:tcPr/>
                </a:tc>
                <a:tc>
                  <a:txBody>
                    <a:bodyPr/>
                    <a:lstStyle/>
                    <a:p>
                      <a:pPr>
                        <a:defRPr sz="1000"/>
                      </a:pPr>
                      <a:r>
                        <a:t>1.48</a:t>
                      </a:r>
                    </a:p>
                  </a:txBody>
                  <a:tcPr/>
                </a:tc>
                <a:tc>
                  <a:txBody>
                    <a:bodyPr/>
                    <a:lstStyle/>
                    <a:p>
                      <a:pPr>
                        <a:defRPr sz="1000"/>
                      </a:pPr>
                      <a:r>
                        <a:t>Stage 12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